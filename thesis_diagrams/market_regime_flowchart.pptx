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Market Regime Detection — Bull / Bear / Sideways / High-Volatility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457200" y="914400"/>
            <a:ext cx="2743200" cy="548640"/>
          </a:xfrm>
          <a:prstGeom prst="parallelogram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S&amp;P 500 OHLCV + VIX (yfinance)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743200" cy="1097280"/>
          </a:xfrm>
          <a:prstGeom prst="rect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Compute:
• SMA50, SMA200
• SMA200 slope (20-day change)
• price vs SMA200 (%)
• VIX, VIX 20-day MA</a:t>
            </a:r>
          </a:p>
        </p:txBody>
      </p:sp>
      <p:cxnSp>
        <p:nvCxnSpPr>
          <p:cNvPr id="5" name="Connector 4"/>
          <p:cNvCxnSpPr>
            <a:stCxn id="3" idx="2"/>
            <a:endCxn id="4" idx="0"/>
          </p:cNvCxnSpPr>
          <p:nvPr/>
        </p:nvCxnSpPr>
        <p:spPr>
          <a:xfrm flipH="1">
            <a:off x="1828800" y="1463040"/>
            <a:ext cx="0" cy="274320"/>
          </a:xfrm>
          <a:prstGeom prst="bentConnector3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amond 5"/>
          <p:cNvSpPr/>
          <p:nvPr/>
        </p:nvSpPr>
        <p:spPr>
          <a:xfrm>
            <a:off x="3840480" y="1554480"/>
            <a:ext cx="2377440" cy="137160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VIX &gt; 25
OR
VIX &gt; 1.3 × VIX_MA20 ?</a:t>
            </a:r>
          </a:p>
        </p:txBody>
      </p:sp>
      <p:cxnSp>
        <p:nvCxnSpPr>
          <p:cNvPr id="7" name="Connector 6"/>
          <p:cNvCxnSpPr>
            <a:stCxn id="4" idx="3"/>
            <a:endCxn id="6" idx="1"/>
          </p:cNvCxnSpPr>
          <p:nvPr/>
        </p:nvCxnSpPr>
        <p:spPr>
          <a:xfrm flipV="1">
            <a:off x="3200400" y="2240280"/>
            <a:ext cx="640080" cy="45720"/>
          </a:xfrm>
          <a:prstGeom prst="bentConnector3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0" y="1874519"/>
            <a:ext cx="2286000" cy="731520"/>
          </a:xfrm>
          <a:prstGeom prst="roundRect">
            <a:avLst/>
          </a:prstGeom>
          <a:solidFill>
            <a:srgbClr val="FBE5E5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High-Volatility</a:t>
            </a:r>
          </a:p>
        </p:txBody>
      </p:sp>
      <p:cxnSp>
        <p:nvCxnSpPr>
          <p:cNvPr id="9" name="Connector 8"/>
          <p:cNvCxnSpPr>
            <a:stCxn id="6" idx="3"/>
            <a:endCxn id="8" idx="1"/>
          </p:cNvCxnSpPr>
          <p:nvPr/>
        </p:nvCxnSpPr>
        <p:spPr>
          <a:xfrm flipV="1">
            <a:off x="6217920" y="2240279"/>
            <a:ext cx="1097280" cy="1"/>
          </a:xfrm>
          <a:prstGeom prst="bentConnector3">
            <a:avLst/>
          </a:prstGeom>
          <a:ln w="158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09360" y="1920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0">
                <a:solidFill>
                  <a:srgbClr val="C00000"/>
                </a:solidFill>
                <a:latin typeface="Calibri"/>
              </a:rPr>
              <a:t>Yes</a:t>
            </a:r>
          </a:p>
        </p:txBody>
      </p:sp>
      <p:sp>
        <p:nvSpPr>
          <p:cNvPr id="11" name="Diamond 10"/>
          <p:cNvSpPr/>
          <p:nvPr/>
        </p:nvSpPr>
        <p:spPr>
          <a:xfrm>
            <a:off x="3840480" y="3474720"/>
            <a:ext cx="2377440" cy="137160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price &gt; SMA200 by &gt; 2%
AND SMA200 slope &gt; 0
AND SMA50 &gt; SMA200 ?</a:t>
            </a:r>
          </a:p>
        </p:txBody>
      </p:sp>
      <p:cxnSp>
        <p:nvCxnSpPr>
          <p:cNvPr id="12" name="Connector 11"/>
          <p:cNvCxnSpPr>
            <a:stCxn id="6" idx="2"/>
            <a:endCxn id="11" idx="0"/>
          </p:cNvCxnSpPr>
          <p:nvPr/>
        </p:nvCxnSpPr>
        <p:spPr>
          <a:xfrm flipH="1">
            <a:off x="5029200" y="2926080"/>
            <a:ext cx="0" cy="548640"/>
          </a:xfrm>
          <a:prstGeom prst="bentConnector3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846320" y="3063240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794760"/>
            <a:ext cx="2286000" cy="73152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Bull</a:t>
            </a:r>
          </a:p>
        </p:txBody>
      </p:sp>
      <p:cxnSp>
        <p:nvCxnSpPr>
          <p:cNvPr id="15" name="Connector 14"/>
          <p:cNvCxnSpPr>
            <a:stCxn id="11" idx="3"/>
            <a:endCxn id="14" idx="1"/>
          </p:cNvCxnSpPr>
          <p:nvPr/>
        </p:nvCxnSpPr>
        <p:spPr>
          <a:xfrm flipV="1">
            <a:off x="6217920" y="4160520"/>
            <a:ext cx="1097280" cy="0"/>
          </a:xfrm>
          <a:prstGeom prst="bentConnector3">
            <a:avLst/>
          </a:prstGeom>
          <a:ln w="15875">
            <a:solidFill>
              <a:srgbClr val="387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9360" y="384048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0">
                <a:solidFill>
                  <a:srgbClr val="38761D"/>
                </a:solidFill>
                <a:latin typeface="Calibri"/>
              </a:rPr>
              <a:t>Yes</a:t>
            </a:r>
          </a:p>
        </p:txBody>
      </p:sp>
      <p:sp>
        <p:nvSpPr>
          <p:cNvPr id="17" name="Diamond 16"/>
          <p:cNvSpPr/>
          <p:nvPr/>
        </p:nvSpPr>
        <p:spPr>
          <a:xfrm>
            <a:off x="3840480" y="5349240"/>
            <a:ext cx="2377440" cy="1371600"/>
          </a:xfrm>
          <a:prstGeom prst="diamond">
            <a:avLst/>
          </a:prstGeom>
          <a:solidFill>
            <a:srgbClr val="DEEBF7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0">
                <a:solidFill>
                  <a:srgbClr val="000000"/>
                </a:solidFill>
                <a:latin typeface="Calibri"/>
              </a:rPr>
              <a:t>price &lt; SMA200 by &gt; 2%
AND SMA200 slope &lt; 0
AND SMA50 &lt; SMA200 ?</a:t>
            </a:r>
          </a:p>
        </p:txBody>
      </p:sp>
      <p:cxnSp>
        <p:nvCxnSpPr>
          <p:cNvPr id="18" name="Connector 17"/>
          <p:cNvCxnSpPr>
            <a:stCxn id="11" idx="2"/>
            <a:endCxn id="17" idx="0"/>
          </p:cNvCxnSpPr>
          <p:nvPr/>
        </p:nvCxnSpPr>
        <p:spPr>
          <a:xfrm flipH="1">
            <a:off x="5029200" y="4846320"/>
            <a:ext cx="0" cy="502920"/>
          </a:xfrm>
          <a:prstGeom prst="bentConnector3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46320" y="4937760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5669280"/>
            <a:ext cx="2286000" cy="731520"/>
          </a:xfrm>
          <a:prstGeom prst="roundRect">
            <a:avLst/>
          </a:prstGeom>
          <a:solidFill>
            <a:srgbClr val="FBE5E5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Bear</a:t>
            </a:r>
          </a:p>
        </p:txBody>
      </p:sp>
      <p:cxnSp>
        <p:nvCxnSpPr>
          <p:cNvPr id="21" name="Connector 20"/>
          <p:cNvCxnSpPr>
            <a:stCxn id="17" idx="3"/>
            <a:endCxn id="20" idx="1"/>
          </p:cNvCxnSpPr>
          <p:nvPr/>
        </p:nvCxnSpPr>
        <p:spPr>
          <a:xfrm flipV="1">
            <a:off x="6217920" y="6035040"/>
            <a:ext cx="1097280" cy="0"/>
          </a:xfrm>
          <a:prstGeom prst="bentConnector3">
            <a:avLst/>
          </a:prstGeom>
          <a:ln w="158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0" y="571500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0">
                <a:solidFill>
                  <a:srgbClr val="C00000"/>
                </a:solidFill>
                <a:latin typeface="Calibri"/>
              </a:rPr>
              <a:t>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6903720"/>
            <a:ext cx="2377440" cy="640080"/>
          </a:xfrm>
          <a:prstGeom prst="roundRect">
            <a:avLst/>
          </a:prstGeom>
          <a:solidFill>
            <a:srgbClr val="FDEAD0"/>
          </a:solidFill>
          <a:ln w="12700">
            <a:solidFill>
              <a:srgbClr val="BF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Sideways</a:t>
            </a:r>
          </a:p>
        </p:txBody>
      </p:sp>
      <p:cxnSp>
        <p:nvCxnSpPr>
          <p:cNvPr id="24" name="Connector 23"/>
          <p:cNvCxnSpPr>
            <a:stCxn id="17" idx="2"/>
            <a:endCxn id="23" idx="0"/>
          </p:cNvCxnSpPr>
          <p:nvPr/>
        </p:nvCxnSpPr>
        <p:spPr>
          <a:xfrm flipH="1">
            <a:off x="5029200" y="6720840"/>
            <a:ext cx="0" cy="182880"/>
          </a:xfrm>
          <a:prstGeom prst="bentConnector3">
            <a:avLst/>
          </a:prstGeom>
          <a:ln w="15875">
            <a:solidFill>
              <a:srgbClr val="BF6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46320" y="6720840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595959"/>
                </a:solidFill>
                <a:latin typeface="Calibri"/>
              </a:rPr>
              <a:t>No (default)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576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Calibri"/>
              </a:rPr>
              <a:t>Regime Implications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77639"/>
            <a:ext cx="1005840" cy="4572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Bull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023359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0">
                <a:solidFill>
                  <a:srgbClr val="000000"/>
                </a:solidFill>
                <a:latin typeface="Calibri"/>
              </a:rPr>
              <a:t>Long-biased; rule-based BUY signals are more reliable.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17720"/>
            <a:ext cx="1005840" cy="457200"/>
          </a:xfrm>
          <a:prstGeom prst="roundRect">
            <a:avLst/>
          </a:prstGeom>
          <a:solidFill>
            <a:srgbClr val="FBE5E5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Bear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663440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0">
                <a:solidFill>
                  <a:srgbClr val="000000"/>
                </a:solidFill>
                <a:latin typeface="Calibri"/>
              </a:rPr>
              <a:t>Short-biased; SELL/HOLD preferred. BUYs treated with caution.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257800"/>
            <a:ext cx="1005840" cy="457200"/>
          </a:xfrm>
          <a:prstGeom prst="roundRect">
            <a:avLst/>
          </a:prstGeom>
          <a:solidFill>
            <a:srgbClr val="FDEAD0"/>
          </a:solidFill>
          <a:ln w="12700">
            <a:solidFill>
              <a:srgbClr val="BF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Sideways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03520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0">
                <a:solidFill>
                  <a:srgbClr val="000000"/>
                </a:solidFill>
                <a:latin typeface="Calibri"/>
              </a:rPr>
              <a:t>Choppy; mean-reversion risk. Favour short holding periods.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97879"/>
            <a:ext cx="1005840" cy="457200"/>
          </a:xfrm>
          <a:prstGeom prst="roundRect">
            <a:avLst/>
          </a:prstGeom>
          <a:solidFill>
            <a:srgbClr val="FBE5E5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High-Volatility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943599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0">
                <a:solidFill>
                  <a:srgbClr val="000000"/>
                </a:solidFill>
                <a:latin typeface="Calibri"/>
              </a:rPr>
              <a:t>Elevated risk; signals are less dependable, wider stops advised.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7498079"/>
            <a:ext cx="5943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595959"/>
                </a:solidFill>
                <a:latin typeface="Calibri"/>
              </a:rPr>
              <a:t>Source: models.py — detect_market_regime (lines 249–300).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