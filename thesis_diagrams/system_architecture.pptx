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88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System Architecture — Retail Stock Analytics Dashboard</a:t>
            </a:r>
          </a:p>
        </p:txBody>
      </p:sp>
      <p:sp>
        <p:nvSpPr>
          <p:cNvPr id="3" name="Oval 2"/>
          <p:cNvSpPr/>
          <p:nvPr/>
        </p:nvSpPr>
        <p:spPr>
          <a:xfrm>
            <a:off x="5394960" y="685800"/>
            <a:ext cx="137160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Retail Investor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11247120" cy="1143000"/>
          </a:xfrm>
          <a:prstGeom prst="roundRect">
            <a:avLst/>
          </a:prstGeom>
          <a:solidFill>
            <a:srgbClr val="DEEBF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Presentation Layer — Streamlit (app.py, styles.py)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500" y="201168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954780" y="201168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Technical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5060" y="201168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Fundamentals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35340" y="201168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News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11247120" cy="14173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761D"/>
                </a:solidFill>
                <a:latin typeface="Calibri"/>
              </a:rPr>
              <a:t>Business Logic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91840"/>
            <a:ext cx="4572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models.py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• compute_indicators (SMA, RSI, ATV, rel. volume)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• generate_paper1_signal  (crossover + ATV + RSI gate)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• generate_recommendation_paper1  (+ confidence)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• detect_market_regime  • calculate_piotroski_fscore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3291840"/>
            <a:ext cx="3200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rl_agent.py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• StockTradingEnv (Gymnasium)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• train_ppo_agent (PPO, 50K steps)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• predict_action  (6-D state → BUY/SELL/HOLD)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329184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Support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• styles.py (UI theming)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• backtest utilities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• position 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17720"/>
            <a:ext cx="11247120" cy="1005840"/>
          </a:xfrm>
          <a:prstGeom prst="roundRect">
            <a:avLst/>
          </a:prstGeom>
          <a:solidFill>
            <a:srgbClr val="E7DDF2"/>
          </a:solidFill>
          <a:ln w="19050">
            <a:solidFill>
              <a:srgbClr val="5B3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663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B3F8A"/>
                </a:solidFill>
                <a:latin typeface="Calibri"/>
              </a:rPr>
              <a:t>Data &amp; Caching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937760"/>
            <a:ext cx="3474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3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Streamlit cache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30-min / 1-hour / 24-hour TTLs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4937760"/>
            <a:ext cx="3474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3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In-memory DataFrames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(OHLCV, indicators, signals)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4937760"/>
            <a:ext cx="374903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3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Trained PPO model artefact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(stable-baselines3 zip)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806440"/>
            <a:ext cx="11247120" cy="868680"/>
          </a:xfrm>
          <a:prstGeom prst="roundRect">
            <a:avLst/>
          </a:prstGeom>
          <a:solidFill>
            <a:srgbClr val="FDEAD0"/>
          </a:solidFill>
          <a:ln w="19050">
            <a:solidFill>
              <a:srgbClr val="B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F7A00"/>
                </a:solidFill>
                <a:latin typeface="Calibri"/>
              </a:rPr>
              <a:t>External Data Sources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126480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yfinance  —  OHLCV, fundamentals, VIX, S&amp;P 500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6126480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Finnhub  —  company news &amp; sentiment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6126480"/>
            <a:ext cx="374903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Wikipedia / StockAnalysis.com  —  ticker lists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1188720"/>
            <a:ext cx="0" cy="41148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080760" y="1188720"/>
            <a:ext cx="0" cy="41148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80760" y="2743200"/>
            <a:ext cx="0" cy="2286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80760" y="4389120"/>
            <a:ext cx="0" cy="2286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80760" y="5623560"/>
            <a:ext cx="0" cy="18288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080760" y="5623560"/>
            <a:ext cx="0" cy="18288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74320" y="66294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Calibri"/>
              </a:rPr>
              <a:t>Source: app.py, models.py, rl_agent.py, tabs/*.py, styles.py.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