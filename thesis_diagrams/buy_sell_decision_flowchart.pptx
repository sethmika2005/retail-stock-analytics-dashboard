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7772400" cy="1234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72" y="-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Connector 24"/>
          <p:cNvCxnSpPr>
            <a:cxnSpLocks/>
            <a:stCxn id="10" idx="3"/>
            <a:endCxn id="18" idx="0"/>
          </p:cNvCxnSpPr>
          <p:nvPr/>
        </p:nvCxnSpPr>
        <p:spPr>
          <a:xfrm>
            <a:off x="4800600" y="3931920"/>
            <a:ext cx="1783080" cy="731520"/>
          </a:xfrm>
          <a:prstGeom prst="bent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10" idx="1"/>
            <a:endCxn id="12" idx="0"/>
          </p:cNvCxnSpPr>
          <p:nvPr/>
        </p:nvCxnSpPr>
        <p:spPr>
          <a:xfrm rot="10800000" flipV="1">
            <a:off x="1188720" y="3931920"/>
            <a:ext cx="1783080" cy="731520"/>
          </a:xfrm>
          <a:prstGeom prst="bent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  <a:stCxn id="19" idx="2"/>
            <a:endCxn id="21" idx="0"/>
          </p:cNvCxnSpPr>
          <p:nvPr/>
        </p:nvCxnSpPr>
        <p:spPr>
          <a:xfrm>
            <a:off x="6583680" y="6583680"/>
            <a:ext cx="7620" cy="612648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13" idx="2"/>
            <a:endCxn id="15" idx="0"/>
          </p:cNvCxnSpPr>
          <p:nvPr/>
        </p:nvCxnSpPr>
        <p:spPr>
          <a:xfrm>
            <a:off x="1188720" y="6583680"/>
            <a:ext cx="0" cy="617220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arallelogram 3"/>
          <p:cNvSpPr/>
          <p:nvPr/>
        </p:nvSpPr>
        <p:spPr>
          <a:xfrm>
            <a:off x="2743200" y="960120"/>
            <a:ext cx="2286000" cy="502920"/>
          </a:xfrm>
          <a:prstGeom prst="parallelogram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 dirty="0">
                <a:solidFill>
                  <a:srgbClr val="000000"/>
                </a:solidFill>
                <a:latin typeface="Calibri"/>
              </a:rPr>
              <a:t>Daily OHLCV data (</a:t>
            </a:r>
            <a:r>
              <a:rPr sz="900" b="1" dirty="0" err="1">
                <a:solidFill>
                  <a:srgbClr val="000000"/>
                </a:solidFill>
                <a:latin typeface="Calibri"/>
              </a:rPr>
              <a:t>yfinance</a:t>
            </a:r>
            <a:r>
              <a:rPr sz="900" b="1" dirty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691640"/>
            <a:ext cx="228600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 dirty="0">
                <a:solidFill>
                  <a:srgbClr val="000000"/>
                </a:solidFill>
                <a:latin typeface="Calibri"/>
              </a:rPr>
              <a:t>Compute SMA20, SMA50,
ATV slope, RSI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423160"/>
            <a:ext cx="228600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 dirty="0">
                <a:solidFill>
                  <a:srgbClr val="000000"/>
                </a:solidFill>
                <a:latin typeface="Calibri"/>
              </a:rPr>
              <a:t>Derive SMA</a:t>
            </a:r>
            <a:r>
              <a:rPr lang="en-US" sz="900" b="1" dirty="0">
                <a:solidFill>
                  <a:srgbClr val="000000"/>
                </a:solidFill>
                <a:latin typeface="Calibri"/>
              </a:rPr>
              <a:t> </a:t>
            </a:r>
            <a:r>
              <a:rPr sz="900" b="1" dirty="0">
                <a:solidFill>
                  <a:srgbClr val="000000"/>
                </a:solidFill>
                <a:latin typeface="Calibri"/>
              </a:rPr>
              <a:t>Cross</a:t>
            </a:r>
            <a:r>
              <a:rPr lang="en-US" sz="900" b="1" dirty="0">
                <a:solidFill>
                  <a:srgbClr val="000000"/>
                </a:solidFill>
                <a:latin typeface="Calibri"/>
              </a:rPr>
              <a:t> </a:t>
            </a:r>
            <a:r>
              <a:rPr sz="900" b="1" dirty="0">
                <a:solidFill>
                  <a:srgbClr val="000000"/>
                </a:solidFill>
                <a:latin typeface="Calibri"/>
              </a:rPr>
              <a:t>Signal
(+1 golden / 0 none / −1 death)</a:t>
            </a:r>
          </a:p>
        </p:txBody>
      </p:sp>
      <p:cxnSp>
        <p:nvCxnSpPr>
          <p:cNvPr id="7" name="Connector 6"/>
          <p:cNvCxnSpPr>
            <a:stCxn id="4" idx="2"/>
            <a:endCxn id="5" idx="0"/>
          </p:cNvCxnSpPr>
          <p:nvPr/>
        </p:nvCxnSpPr>
        <p:spPr>
          <a:xfrm flipH="1">
            <a:off x="3886200" y="1463040"/>
            <a:ext cx="0" cy="228600"/>
          </a:xfrm>
          <a:prstGeom prst="bentConnector3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5" idx="2"/>
            <a:endCxn id="6" idx="0"/>
          </p:cNvCxnSpPr>
          <p:nvPr/>
        </p:nvCxnSpPr>
        <p:spPr>
          <a:xfrm flipH="1">
            <a:off x="3886200" y="2194560"/>
            <a:ext cx="0" cy="228600"/>
          </a:xfrm>
          <a:prstGeom prst="bentConnector3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2971800" y="3474720"/>
            <a:ext cx="1828800" cy="91440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lang="en-US" sz="900" b="1" dirty="0">
                <a:solidFill>
                  <a:srgbClr val="000000"/>
                </a:solidFill>
                <a:latin typeface="Calibri"/>
              </a:rPr>
              <a:t>SMA Crossover</a:t>
            </a:r>
            <a:endParaRPr sz="900" b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1" name="Connector 10"/>
          <p:cNvCxnSpPr>
            <a:stCxn id="6" idx="2"/>
            <a:endCxn id="10" idx="0"/>
          </p:cNvCxnSpPr>
          <p:nvPr/>
        </p:nvCxnSpPr>
        <p:spPr>
          <a:xfrm flipH="1">
            <a:off x="3886200" y="2926080"/>
            <a:ext cx="0" cy="548640"/>
          </a:xfrm>
          <a:prstGeom prst="bentConnector3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365760" y="4663440"/>
            <a:ext cx="1645920" cy="82296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ATV slope &gt; 0 ?</a:t>
            </a:r>
          </a:p>
        </p:txBody>
      </p:sp>
      <p:sp>
        <p:nvSpPr>
          <p:cNvPr id="13" name="Diamond 12"/>
          <p:cNvSpPr/>
          <p:nvPr/>
        </p:nvSpPr>
        <p:spPr>
          <a:xfrm>
            <a:off x="365760" y="5760720"/>
            <a:ext cx="1645920" cy="82296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RSI &gt; 70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7200900"/>
            <a:ext cx="1280160" cy="5486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2E7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050" b="1" dirty="0">
                <a:solidFill>
                  <a:srgbClr val="000000"/>
                </a:solidFill>
                <a:latin typeface="Calibri"/>
              </a:rPr>
              <a:t>Rule: BUY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3740" y="4826000"/>
            <a:ext cx="1280160" cy="5029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2E7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Rule: HOLD</a:t>
            </a:r>
          </a:p>
        </p:txBody>
      </p:sp>
      <p:sp>
        <p:nvSpPr>
          <p:cNvPr id="18" name="Diamond 17"/>
          <p:cNvSpPr/>
          <p:nvPr/>
        </p:nvSpPr>
        <p:spPr>
          <a:xfrm>
            <a:off x="5760720" y="4663440"/>
            <a:ext cx="1645920" cy="82296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ATV slope &gt; 0 ?</a:t>
            </a:r>
          </a:p>
        </p:txBody>
      </p:sp>
      <p:sp>
        <p:nvSpPr>
          <p:cNvPr id="19" name="Diamond 18"/>
          <p:cNvSpPr/>
          <p:nvPr/>
        </p:nvSpPr>
        <p:spPr>
          <a:xfrm>
            <a:off x="5760720" y="5760720"/>
            <a:ext cx="1645920" cy="82296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RSI &lt; 30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51220" y="7196328"/>
            <a:ext cx="1280160" cy="5486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2E7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050" b="1" dirty="0">
                <a:solidFill>
                  <a:srgbClr val="000000"/>
                </a:solidFill>
                <a:latin typeface="Calibri"/>
              </a:rPr>
              <a:t>Rule: SELL</a:t>
            </a:r>
          </a:p>
        </p:txBody>
      </p:sp>
      <p:cxnSp>
        <p:nvCxnSpPr>
          <p:cNvPr id="24" name="Connector 23"/>
          <p:cNvCxnSpPr>
            <a:cxnSpLocks/>
          </p:cNvCxnSpPr>
          <p:nvPr/>
        </p:nvCxnSpPr>
        <p:spPr>
          <a:xfrm>
            <a:off x="3886200" y="4389120"/>
            <a:ext cx="0" cy="436880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2" idx="2"/>
            <a:endCxn id="13" idx="0"/>
          </p:cNvCxnSpPr>
          <p:nvPr/>
        </p:nvCxnSpPr>
        <p:spPr>
          <a:xfrm flipH="1">
            <a:off x="1188720" y="5486400"/>
            <a:ext cx="0" cy="274320"/>
          </a:xfrm>
          <a:prstGeom prst="bentConnector3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stCxn id="12" idx="3"/>
            <a:endCxn id="17" idx="1"/>
          </p:cNvCxnSpPr>
          <p:nvPr/>
        </p:nvCxnSpPr>
        <p:spPr>
          <a:xfrm>
            <a:off x="2011680" y="5074920"/>
            <a:ext cx="1242060" cy="2540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stCxn id="13" idx="3"/>
            <a:endCxn id="17" idx="2"/>
          </p:cNvCxnSpPr>
          <p:nvPr/>
        </p:nvCxnSpPr>
        <p:spPr>
          <a:xfrm flipV="1">
            <a:off x="2011680" y="5328920"/>
            <a:ext cx="1882140" cy="843280"/>
          </a:xfrm>
          <a:prstGeom prst="bent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8" idx="2"/>
            <a:endCxn id="19" idx="0"/>
          </p:cNvCxnSpPr>
          <p:nvPr/>
        </p:nvCxnSpPr>
        <p:spPr>
          <a:xfrm flipH="1">
            <a:off x="6583680" y="5486400"/>
            <a:ext cx="0" cy="274320"/>
          </a:xfrm>
          <a:prstGeom prst="bentConnector3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  <a:stCxn id="18" idx="1"/>
            <a:endCxn id="17" idx="3"/>
          </p:cNvCxnSpPr>
          <p:nvPr/>
        </p:nvCxnSpPr>
        <p:spPr>
          <a:xfrm flipH="1">
            <a:off x="4533900" y="5074920"/>
            <a:ext cx="1226820" cy="2540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  <a:stCxn id="19" idx="1"/>
            <a:endCxn id="17" idx="2"/>
          </p:cNvCxnSpPr>
          <p:nvPr/>
        </p:nvCxnSpPr>
        <p:spPr>
          <a:xfrm rot="10800000">
            <a:off x="3893820" y="5328920"/>
            <a:ext cx="1866900" cy="843280"/>
          </a:xfrm>
          <a:prstGeom prst="bent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65960" y="3771900"/>
            <a:ext cx="91440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+1 Golden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518660"/>
            <a:ext cx="118872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0 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739896"/>
            <a:ext cx="91440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−1 Death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4869180"/>
            <a:ext cx="3657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4883150"/>
            <a:ext cx="3657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3470" y="5557520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532120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7950" y="5977889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ctr">
              <a:defRPr sz="800" i="1">
                <a:solidFill>
                  <a:srgbClr val="595959"/>
                </a:solidFill>
                <a:latin typeface="Calibri"/>
              </a:defRPr>
            </a:lvl1pPr>
          </a:lstStyle>
          <a:p>
            <a:r>
              <a:rPr dirty="0"/>
              <a:t>Yes → blocked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4601" y="5977890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ctr">
              <a:defRPr sz="800" i="1">
                <a:solidFill>
                  <a:srgbClr val="595959"/>
                </a:solidFill>
                <a:latin typeface="Calibri"/>
              </a:defRPr>
            </a:lvl1pPr>
          </a:lstStyle>
          <a:p>
            <a:r>
              <a:rPr dirty="0"/>
              <a:t>Yes → blocked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3470" y="6854190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6830568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43AA40D-12B4-2255-5AE6-1357CB174A2C}"/>
              </a:ext>
            </a:extLst>
          </p:cNvPr>
          <p:cNvGrpSpPr/>
          <p:nvPr/>
        </p:nvGrpSpPr>
        <p:grpSpPr>
          <a:xfrm>
            <a:off x="5549341" y="640080"/>
            <a:ext cx="2103120" cy="1554480"/>
            <a:chOff x="5549341" y="640080"/>
            <a:chExt cx="2103120" cy="1554480"/>
          </a:xfrm>
        </p:grpSpPr>
        <p:sp>
          <p:nvSpPr>
            <p:cNvPr id="66" name="TextBox 65"/>
            <p:cNvSpPr txBox="1"/>
            <p:nvPr/>
          </p:nvSpPr>
          <p:spPr>
            <a:xfrm>
              <a:off x="5549341" y="640080"/>
              <a:ext cx="2103120" cy="228600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l"/>
              <a:r>
                <a:rPr sz="1000" b="1" dirty="0">
                  <a:solidFill>
                    <a:srgbClr val="595959"/>
                  </a:solidFill>
                  <a:latin typeface="Calibri"/>
                </a:rPr>
                <a:t>Legend</a:t>
              </a:r>
            </a:p>
          </p:txBody>
        </p:sp>
        <p:sp>
          <p:nvSpPr>
            <p:cNvPr id="67" name="Parallelogram 66"/>
            <p:cNvSpPr/>
            <p:nvPr/>
          </p:nvSpPr>
          <p:spPr>
            <a:xfrm>
              <a:off x="5640781" y="960120"/>
              <a:ext cx="274320" cy="164592"/>
            </a:xfrm>
            <a:prstGeom prst="parallelogram">
              <a:avLst/>
            </a:prstGeom>
            <a:solidFill>
              <a:srgbClr val="FFF2CC"/>
            </a:solidFill>
            <a:ln w="12700">
              <a:solidFill>
                <a:srgbClr val="BF9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endParaRPr sz="900" b="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189421" y="941832"/>
              <a:ext cx="495328" cy="123111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sz="800" i="0" dirty="0">
                  <a:solidFill>
                    <a:srgbClr val="595959"/>
                  </a:solidFill>
                  <a:latin typeface="Calibri"/>
                </a:rPr>
                <a:t>Input / data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640781" y="1188720"/>
              <a:ext cx="274320" cy="164592"/>
            </a:xfrm>
            <a:prstGeom prst="rect">
              <a:avLst/>
            </a:prstGeom>
            <a:solidFill>
              <a:srgbClr val="FFF2CC"/>
            </a:solidFill>
            <a:ln w="12700">
              <a:solidFill>
                <a:srgbClr val="BF9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endParaRPr sz="900" b="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189421" y="1203960"/>
              <a:ext cx="565861" cy="123111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sz="800" i="0" dirty="0">
                  <a:solidFill>
                    <a:srgbClr val="595959"/>
                  </a:solidFill>
                  <a:latin typeface="Calibri"/>
                </a:rPr>
                <a:t>Process (rule)</a:t>
              </a:r>
            </a:p>
          </p:txBody>
        </p:sp>
        <p:sp>
          <p:nvSpPr>
            <p:cNvPr id="73" name="Diamond 72"/>
            <p:cNvSpPr/>
            <p:nvPr/>
          </p:nvSpPr>
          <p:spPr>
            <a:xfrm>
              <a:off x="5640781" y="1407795"/>
              <a:ext cx="274320" cy="182880"/>
            </a:xfrm>
            <a:prstGeom prst="diamond">
              <a:avLst/>
            </a:prstGeom>
            <a:solidFill>
              <a:srgbClr val="DEEBF7"/>
            </a:solidFill>
            <a:ln w="12700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endParaRPr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189421" y="1443443"/>
              <a:ext cx="354264" cy="123111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sz="800" i="0" dirty="0">
                  <a:solidFill>
                    <a:srgbClr val="595959"/>
                  </a:solidFill>
                  <a:latin typeface="Calibri"/>
                </a:rPr>
                <a:t>Decision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5640781" y="1682115"/>
              <a:ext cx="274320" cy="164592"/>
            </a:xfrm>
            <a:prstGeom prst="roundRect">
              <a:avLst/>
            </a:prstGeom>
            <a:solidFill>
              <a:srgbClr val="E2EFDA"/>
            </a:solidFill>
            <a:ln w="12700">
              <a:solidFill>
                <a:srgbClr val="2E75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endParaRPr sz="1100" b="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189421" y="1701848"/>
              <a:ext cx="637995" cy="123111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sz="800" i="0" dirty="0">
                  <a:solidFill>
                    <a:srgbClr val="595959"/>
                  </a:solidFill>
                  <a:latin typeface="Calibri"/>
                </a:rPr>
                <a:t>Final / terminal</a:t>
              </a:r>
            </a:p>
          </p:txBody>
        </p:sp>
        <p:cxnSp>
          <p:nvCxnSpPr>
            <p:cNvPr id="114" name="Connector 23">
              <a:extLst>
                <a:ext uri="{FF2B5EF4-FFF2-40B4-BE49-F238E27FC236}">
                  <a16:creationId xmlns:a16="http://schemas.microsoft.com/office/drawing/2014/main" id="{220A6E49-6ACA-C24A-8E47-26C32BEC32F2}"/>
                </a:ext>
              </a:extLst>
            </p:cNvPr>
            <p:cNvCxnSpPr>
              <a:cxnSpLocks/>
            </p:cNvCxnSpPr>
            <p:nvPr/>
          </p:nvCxnSpPr>
          <p:spPr>
            <a:xfrm>
              <a:off x="5773496" y="1922145"/>
              <a:ext cx="0" cy="272415"/>
            </a:xfrm>
            <a:prstGeom prst="straightConnector1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D2BB265-0ED9-AB36-26B6-B9A9B9B97811}"/>
                </a:ext>
              </a:extLst>
            </p:cNvPr>
            <p:cNvSpPr txBox="1"/>
            <p:nvPr/>
          </p:nvSpPr>
          <p:spPr>
            <a:xfrm>
              <a:off x="6189421" y="1965452"/>
              <a:ext cx="862416" cy="123111"/>
            </a:xfrm>
            <a:prstGeom prst="rect">
              <a:avLst/>
            </a:prstGeom>
            <a:noFill/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800" i="0" dirty="0">
                  <a:solidFill>
                    <a:srgbClr val="595959"/>
                  </a:solidFill>
                  <a:latin typeface="Calibri"/>
                </a:rPr>
                <a:t>Flow between states</a:t>
              </a:r>
              <a:endParaRPr sz="800" i="0" dirty="0">
                <a:solidFill>
                  <a:srgbClr val="595959"/>
                </a:solidFill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3A30D-8561-456A-4665-30F2F5564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E198CDE4-A966-3BB8-B5D1-D9A9B54E9BD5}"/>
              </a:ext>
            </a:extLst>
          </p:cNvPr>
          <p:cNvCxnSpPr>
            <a:cxnSpLocks/>
            <a:stCxn id="10" idx="3"/>
            <a:endCxn id="18" idx="0"/>
          </p:cNvCxnSpPr>
          <p:nvPr/>
        </p:nvCxnSpPr>
        <p:spPr>
          <a:xfrm>
            <a:off x="4800600" y="3931920"/>
            <a:ext cx="1783080" cy="731520"/>
          </a:xfrm>
          <a:prstGeom prst="bentConnector2">
            <a:avLst/>
          </a:prstGeom>
          <a:ln w="15875">
            <a:solidFill>
              <a:srgbClr val="1F4E7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EB4F1A4E-C0F8-DF6B-5703-A477AF2E697A}"/>
              </a:ext>
            </a:extLst>
          </p:cNvPr>
          <p:cNvCxnSpPr>
            <a:cxnSpLocks/>
            <a:stCxn id="10" idx="1"/>
            <a:endCxn id="12" idx="0"/>
          </p:cNvCxnSpPr>
          <p:nvPr/>
        </p:nvCxnSpPr>
        <p:spPr>
          <a:xfrm rot="10800000" flipV="1">
            <a:off x="1188720" y="3931920"/>
            <a:ext cx="1783080" cy="731520"/>
          </a:xfrm>
          <a:prstGeom prst="bentConnector2">
            <a:avLst/>
          </a:prstGeom>
          <a:ln w="15875">
            <a:solidFill>
              <a:srgbClr val="1F4E7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623DFCA5-2D6E-5B5B-8389-0A5D67799A89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6583680" y="6583680"/>
            <a:ext cx="0" cy="612648"/>
          </a:xfrm>
          <a:prstGeom prst="straightConnector1">
            <a:avLst/>
          </a:prstGeom>
          <a:ln w="15875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D7361408-D161-955C-6D51-0C9D6F1D8B5A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1188720" y="6583680"/>
            <a:ext cx="0" cy="617220"/>
          </a:xfrm>
          <a:prstGeom prst="straightConnector1">
            <a:avLst/>
          </a:prstGeom>
          <a:ln w="15875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A2DCC4D-05FF-2D5E-7F80-3DEA24F9885D}"/>
              </a:ext>
            </a:extLst>
          </p:cNvPr>
          <p:cNvSpPr txBox="1"/>
          <p:nvPr/>
        </p:nvSpPr>
        <p:spPr>
          <a:xfrm>
            <a:off x="365760" y="182880"/>
            <a:ext cx="7040880" cy="36576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Buy / Sell / Hold Decision Logic — SMA Crossover + ATV + RSI + RL Overlay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D7F1F-860B-DA3D-B236-5AEDF99A1640}"/>
              </a:ext>
            </a:extLst>
          </p:cNvPr>
          <p:cNvSpPr txBox="1"/>
          <p:nvPr/>
        </p:nvSpPr>
        <p:spPr>
          <a:xfrm>
            <a:off x="365760" y="640080"/>
            <a:ext cx="2743200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1. Inputs &amp; Indicators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D7639A5-9BA0-6894-1521-1DC8403B6298}"/>
              </a:ext>
            </a:extLst>
          </p:cNvPr>
          <p:cNvSpPr/>
          <p:nvPr/>
        </p:nvSpPr>
        <p:spPr>
          <a:xfrm>
            <a:off x="2743200" y="960120"/>
            <a:ext cx="2286000" cy="502920"/>
          </a:xfrm>
          <a:prstGeom prst="parallelogram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Daily OHLCV data (yfinance)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41AFFF-2D51-4098-6C5E-9263021FCB60}"/>
              </a:ext>
            </a:extLst>
          </p:cNvPr>
          <p:cNvSpPr/>
          <p:nvPr/>
        </p:nvSpPr>
        <p:spPr>
          <a:xfrm>
            <a:off x="2743200" y="1691640"/>
            <a:ext cx="2286000" cy="50292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 dirty="0">
                <a:solidFill>
                  <a:srgbClr val="000000"/>
                </a:solidFill>
                <a:latin typeface="Calibri"/>
              </a:rPr>
              <a:t>Compute SMA20, SMA50,
ATV slope, RSI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C24063-1BEF-F279-59CA-AE9417EB8A06}"/>
              </a:ext>
            </a:extLst>
          </p:cNvPr>
          <p:cNvSpPr/>
          <p:nvPr/>
        </p:nvSpPr>
        <p:spPr>
          <a:xfrm>
            <a:off x="2743200" y="2423160"/>
            <a:ext cx="2286000" cy="50292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 dirty="0">
                <a:solidFill>
                  <a:srgbClr val="000000"/>
                </a:solidFill>
                <a:latin typeface="Calibri"/>
              </a:rPr>
              <a:t>Derive </a:t>
            </a:r>
            <a:r>
              <a:rPr sz="900" b="0" dirty="0" err="1">
                <a:solidFill>
                  <a:srgbClr val="000000"/>
                </a:solidFill>
                <a:latin typeface="Calibri"/>
              </a:rPr>
              <a:t>SMA_Cross_Signal</a:t>
            </a:r>
            <a:r>
              <a:rPr sz="900" b="0" dirty="0">
                <a:solidFill>
                  <a:srgbClr val="000000"/>
                </a:solidFill>
                <a:latin typeface="Calibri"/>
              </a:rPr>
              <a:t>
(+1 golden / 0 none / −1 death)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6569A97E-3A8A-C5D1-43FE-F41EB209EA0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886200" y="1463040"/>
            <a:ext cx="0" cy="228600"/>
          </a:xfrm>
          <a:prstGeom prst="bentConnector3">
            <a:avLst/>
          </a:prstGeom>
          <a:ln w="15875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D6E53C88-4347-65FB-928E-5E62004F2224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3886200" y="2194560"/>
            <a:ext cx="0" cy="228600"/>
          </a:xfrm>
          <a:prstGeom prst="bentConnector3">
            <a:avLst/>
          </a:prstGeom>
          <a:ln w="15875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0E4A61-E8F7-40E0-4BF4-B1978AED79F3}"/>
              </a:ext>
            </a:extLst>
          </p:cNvPr>
          <p:cNvSpPr txBox="1"/>
          <p:nvPr/>
        </p:nvSpPr>
        <p:spPr>
          <a:xfrm>
            <a:off x="365760" y="3154680"/>
            <a:ext cx="4572000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2. Rule Layer (Paper 1)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D3823883-93B0-9D5E-7965-E59BF49A8923}"/>
              </a:ext>
            </a:extLst>
          </p:cNvPr>
          <p:cNvSpPr/>
          <p:nvPr/>
        </p:nvSpPr>
        <p:spPr>
          <a:xfrm>
            <a:off x="2971800" y="3474720"/>
            <a:ext cx="1828800" cy="91440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SMA_Cross_Signal?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1B981626-6197-DEF0-76E7-3DB65052F3B5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flipH="1">
            <a:off x="3886200" y="2926080"/>
            <a:ext cx="0" cy="548640"/>
          </a:xfrm>
          <a:prstGeom prst="bentConnector3">
            <a:avLst/>
          </a:prstGeom>
          <a:ln w="15875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491A47D-1DAE-5638-28E0-1D06B18CAAEA}"/>
              </a:ext>
            </a:extLst>
          </p:cNvPr>
          <p:cNvSpPr/>
          <p:nvPr/>
        </p:nvSpPr>
        <p:spPr>
          <a:xfrm>
            <a:off x="365760" y="4663440"/>
            <a:ext cx="1645920" cy="82296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ATV slope &gt; 0 ?</a:t>
            </a: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A8D21529-8608-E04F-9F81-35FFBAFEC67C}"/>
              </a:ext>
            </a:extLst>
          </p:cNvPr>
          <p:cNvSpPr/>
          <p:nvPr/>
        </p:nvSpPr>
        <p:spPr>
          <a:xfrm>
            <a:off x="365760" y="5760720"/>
            <a:ext cx="1645920" cy="82296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RSI &gt; 70 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30DE37E-588F-0B01-6108-D89E0FF691CC}"/>
              </a:ext>
            </a:extLst>
          </p:cNvPr>
          <p:cNvSpPr/>
          <p:nvPr/>
        </p:nvSpPr>
        <p:spPr>
          <a:xfrm>
            <a:off x="365760" y="7200900"/>
            <a:ext cx="1645920" cy="5486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Rule: BUY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D48802-C031-1A6D-F5E2-3738BC7F0A89}"/>
              </a:ext>
            </a:extLst>
          </p:cNvPr>
          <p:cNvSpPr/>
          <p:nvPr/>
        </p:nvSpPr>
        <p:spPr>
          <a:xfrm>
            <a:off x="3383280" y="4826000"/>
            <a:ext cx="1005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Rule: HOLD
(no crossover)</a:t>
            </a: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AE3CA323-157C-8C40-3BB0-452F86FB6F7B}"/>
              </a:ext>
            </a:extLst>
          </p:cNvPr>
          <p:cNvSpPr/>
          <p:nvPr/>
        </p:nvSpPr>
        <p:spPr>
          <a:xfrm>
            <a:off x="5760720" y="4663440"/>
            <a:ext cx="1645920" cy="82296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ATV slope &gt; 0 ?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CA012E53-C4BD-DFD4-010A-E60744FE8CD4}"/>
              </a:ext>
            </a:extLst>
          </p:cNvPr>
          <p:cNvSpPr/>
          <p:nvPr/>
        </p:nvSpPr>
        <p:spPr>
          <a:xfrm>
            <a:off x="5760720" y="5760720"/>
            <a:ext cx="1645920" cy="82296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RSI &lt; 30 ?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54E9884-3FA8-BA11-FAF3-42E2A2B6311F}"/>
              </a:ext>
            </a:extLst>
          </p:cNvPr>
          <p:cNvSpPr/>
          <p:nvPr/>
        </p:nvSpPr>
        <p:spPr>
          <a:xfrm>
            <a:off x="5760720" y="7196328"/>
            <a:ext cx="1645920" cy="5486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Rule: SELL</a:t>
            </a:r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ED1FE83E-F1BD-F850-B5C0-86067447FF73}"/>
              </a:ext>
            </a:extLst>
          </p:cNvPr>
          <p:cNvCxnSpPr>
            <a:cxnSpLocks/>
          </p:cNvCxnSpPr>
          <p:nvPr/>
        </p:nvCxnSpPr>
        <p:spPr>
          <a:xfrm>
            <a:off x="3886200" y="4389120"/>
            <a:ext cx="0" cy="436880"/>
          </a:xfrm>
          <a:prstGeom prst="straightConnector1">
            <a:avLst/>
          </a:prstGeom>
          <a:ln w="15875">
            <a:solidFill>
              <a:srgbClr val="1F4E7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4EAE37DF-EB66-057A-337A-EE6CDDAD3D54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flipH="1">
            <a:off x="1188720" y="5486400"/>
            <a:ext cx="0" cy="274320"/>
          </a:xfrm>
          <a:prstGeom prst="bentConnector3">
            <a:avLst/>
          </a:prstGeom>
          <a:ln w="15875">
            <a:solidFill>
              <a:srgbClr val="1F4E7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C16918C5-041D-7C32-C752-003115065EDE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>
            <a:off x="2011680" y="5074920"/>
            <a:ext cx="1371600" cy="2540"/>
          </a:xfrm>
          <a:prstGeom prst="straightConnector1">
            <a:avLst/>
          </a:prstGeom>
          <a:ln w="15875">
            <a:solidFill>
              <a:srgbClr val="59595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473A476B-3336-4057-FBC5-365C9CDF9A86}"/>
              </a:ext>
            </a:extLst>
          </p:cNvPr>
          <p:cNvCxnSpPr>
            <a:cxnSpLocks/>
            <a:stCxn id="13" idx="3"/>
            <a:endCxn id="17" idx="2"/>
          </p:cNvCxnSpPr>
          <p:nvPr/>
        </p:nvCxnSpPr>
        <p:spPr>
          <a:xfrm flipV="1">
            <a:off x="2011680" y="5328920"/>
            <a:ext cx="1874520" cy="843280"/>
          </a:xfrm>
          <a:prstGeom prst="bentConnector2">
            <a:avLst/>
          </a:prstGeom>
          <a:ln w="15875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DDA958F9-E619-8856-65B4-491B2C03A072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6583680" y="5486400"/>
            <a:ext cx="0" cy="274320"/>
          </a:xfrm>
          <a:prstGeom prst="bentConnector3">
            <a:avLst/>
          </a:prstGeom>
          <a:ln w="15875">
            <a:solidFill>
              <a:srgbClr val="1F4E7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70BC5FAB-AFBB-A70E-AC5E-3D37CDE3964F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4389120" y="5074920"/>
            <a:ext cx="1371600" cy="2540"/>
          </a:xfrm>
          <a:prstGeom prst="straightConnector1">
            <a:avLst/>
          </a:prstGeom>
          <a:ln w="15875">
            <a:solidFill>
              <a:srgbClr val="595959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712E68E2-072C-494D-91E5-04B448E64E2B}"/>
              </a:ext>
            </a:extLst>
          </p:cNvPr>
          <p:cNvCxnSpPr>
            <a:cxnSpLocks/>
            <a:stCxn id="19" idx="1"/>
            <a:endCxn id="17" idx="2"/>
          </p:cNvCxnSpPr>
          <p:nvPr/>
        </p:nvCxnSpPr>
        <p:spPr>
          <a:xfrm rot="10800000">
            <a:off x="3886200" y="5328920"/>
            <a:ext cx="1874520" cy="843280"/>
          </a:xfrm>
          <a:prstGeom prst="bentConnector2">
            <a:avLst/>
          </a:prstGeom>
          <a:ln w="15875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D57B247-85D7-B746-B1DA-4AF8A0D16B4F}"/>
              </a:ext>
            </a:extLst>
          </p:cNvPr>
          <p:cNvSpPr txBox="1"/>
          <p:nvPr/>
        </p:nvSpPr>
        <p:spPr>
          <a:xfrm>
            <a:off x="1965960" y="3771900"/>
            <a:ext cx="91440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+1 Golden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C6B792-BFA5-31B4-BCBD-D06910CD164D}"/>
              </a:ext>
            </a:extLst>
          </p:cNvPr>
          <p:cNvSpPr txBox="1"/>
          <p:nvPr/>
        </p:nvSpPr>
        <p:spPr>
          <a:xfrm>
            <a:off x="3566160" y="4518660"/>
            <a:ext cx="118872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0 None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2888A9-A382-E3FD-A381-415A3377EB24}"/>
              </a:ext>
            </a:extLst>
          </p:cNvPr>
          <p:cNvSpPr txBox="1"/>
          <p:nvPr/>
        </p:nvSpPr>
        <p:spPr>
          <a:xfrm>
            <a:off x="4846320" y="3739896"/>
            <a:ext cx="91440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−1 Death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B815C6-2781-64C3-480C-5A74EE10C495}"/>
              </a:ext>
            </a:extLst>
          </p:cNvPr>
          <p:cNvSpPr txBox="1"/>
          <p:nvPr/>
        </p:nvSpPr>
        <p:spPr>
          <a:xfrm>
            <a:off x="1965960" y="4869180"/>
            <a:ext cx="3657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D24E1C-5D27-1978-CCD6-CC2A2E29980B}"/>
              </a:ext>
            </a:extLst>
          </p:cNvPr>
          <p:cNvSpPr txBox="1"/>
          <p:nvPr/>
        </p:nvSpPr>
        <p:spPr>
          <a:xfrm>
            <a:off x="5394960" y="4883150"/>
            <a:ext cx="3657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E26F87-9285-899F-331E-D23532E52FE0}"/>
              </a:ext>
            </a:extLst>
          </p:cNvPr>
          <p:cNvSpPr txBox="1"/>
          <p:nvPr/>
        </p:nvSpPr>
        <p:spPr>
          <a:xfrm>
            <a:off x="1093470" y="5557520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0BC1CB-991A-A3A8-F5FD-52D4D5E3D31A}"/>
              </a:ext>
            </a:extLst>
          </p:cNvPr>
          <p:cNvSpPr txBox="1"/>
          <p:nvPr/>
        </p:nvSpPr>
        <p:spPr>
          <a:xfrm>
            <a:off x="6126480" y="5532120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D90238-21CF-857B-F7EA-86EE79FB4958}"/>
              </a:ext>
            </a:extLst>
          </p:cNvPr>
          <p:cNvSpPr txBox="1"/>
          <p:nvPr/>
        </p:nvSpPr>
        <p:spPr>
          <a:xfrm>
            <a:off x="2368550" y="5989320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 dirty="0">
                <a:solidFill>
                  <a:srgbClr val="C00000"/>
                </a:solidFill>
                <a:latin typeface="Calibri"/>
              </a:rPr>
              <a:t>Yes → blocked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E3B794-2125-62D5-2A74-52A8DB35D85A}"/>
              </a:ext>
            </a:extLst>
          </p:cNvPr>
          <p:cNvSpPr txBox="1"/>
          <p:nvPr/>
        </p:nvSpPr>
        <p:spPr>
          <a:xfrm>
            <a:off x="4748530" y="5989320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 dirty="0">
                <a:solidFill>
                  <a:srgbClr val="C00000"/>
                </a:solidFill>
                <a:latin typeface="Calibri"/>
              </a:rPr>
              <a:t>Yes → blocked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7AD159-D195-3642-569A-E3001140AEED}"/>
              </a:ext>
            </a:extLst>
          </p:cNvPr>
          <p:cNvSpPr txBox="1"/>
          <p:nvPr/>
        </p:nvSpPr>
        <p:spPr>
          <a:xfrm>
            <a:off x="1093470" y="6854190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124267-FA4F-3516-4F4F-17D4E3459E24}"/>
              </a:ext>
            </a:extLst>
          </p:cNvPr>
          <p:cNvSpPr txBox="1"/>
          <p:nvPr/>
        </p:nvSpPr>
        <p:spPr>
          <a:xfrm>
            <a:off x="6126480" y="6830568"/>
            <a:ext cx="54864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 dirty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2E60A2-19E0-D5D8-6B55-5B1FFE5A8B0C}"/>
              </a:ext>
            </a:extLst>
          </p:cNvPr>
          <p:cNvSpPr txBox="1"/>
          <p:nvPr/>
        </p:nvSpPr>
        <p:spPr>
          <a:xfrm>
            <a:off x="365760" y="8412480"/>
            <a:ext cx="4572000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754B"/>
                </a:solidFill>
                <a:latin typeface="Calibri"/>
              </a:rPr>
              <a:t>3. RL Overlay (PPO Agent)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A9F39A4-ECD3-E6E7-E0BB-7EDB034E1DCF}"/>
              </a:ext>
            </a:extLst>
          </p:cNvPr>
          <p:cNvSpPr/>
          <p:nvPr/>
        </p:nvSpPr>
        <p:spPr>
          <a:xfrm>
            <a:off x="365760" y="8778240"/>
            <a:ext cx="3200400" cy="685800"/>
          </a:xfrm>
          <a:prstGeom prst="rect">
            <a:avLst/>
          </a:prstGeom>
          <a:solidFill>
            <a:srgbClr val="E2EFDA"/>
          </a:solidFill>
          <a:ln w="12700">
            <a:solidFill>
              <a:srgbClr val="2E7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PPO agent predicts action from 6-D state
[SMA cross, ATV norm, 1d ret, 5d ret, RSI norm, rel vol]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01864E2-BCA5-227C-2A0A-8ACFDCAAF72E}"/>
              </a:ext>
            </a:extLst>
          </p:cNvPr>
          <p:cNvSpPr/>
          <p:nvPr/>
        </p:nvSpPr>
        <p:spPr>
          <a:xfrm>
            <a:off x="4206240" y="8778240"/>
            <a:ext cx="3200400" cy="68580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Rule signal
(BUY / SELL / HOLD)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6D82AC2D-86CE-2E04-12C1-19D9E3BE8005}"/>
              </a:ext>
            </a:extLst>
          </p:cNvPr>
          <p:cNvSpPr/>
          <p:nvPr/>
        </p:nvSpPr>
        <p:spPr>
          <a:xfrm>
            <a:off x="2743200" y="9692640"/>
            <a:ext cx="2286000" cy="914400"/>
          </a:xfrm>
          <a:prstGeom prst="diamond">
            <a:avLst/>
          </a:prstGeom>
          <a:solidFill>
            <a:srgbClr val="E2EFDA"/>
          </a:solidFill>
          <a:ln w="12700">
            <a:solidFill>
              <a:srgbClr val="2E7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RL action
== Rule signal ?</a:t>
            </a:r>
          </a:p>
        </p:txBody>
      </p:sp>
      <p:cxnSp>
        <p:nvCxnSpPr>
          <p:cNvPr id="52" name="Connector 51">
            <a:extLst>
              <a:ext uri="{FF2B5EF4-FFF2-40B4-BE49-F238E27FC236}">
                <a16:creationId xmlns:a16="http://schemas.microsoft.com/office/drawing/2014/main" id="{76B30983-165C-49C1-76C2-E3CEA2A26ABE}"/>
              </a:ext>
            </a:extLst>
          </p:cNvPr>
          <p:cNvCxnSpPr>
            <a:stCxn id="49" idx="2"/>
            <a:endCxn id="51" idx="0"/>
          </p:cNvCxnSpPr>
          <p:nvPr/>
        </p:nvCxnSpPr>
        <p:spPr>
          <a:xfrm>
            <a:off x="1965960" y="9464040"/>
            <a:ext cx="1920240" cy="228600"/>
          </a:xfrm>
          <a:prstGeom prst="bentConnector3">
            <a:avLst/>
          </a:prstGeom>
          <a:ln w="15875">
            <a:solidFill>
              <a:srgbClr val="2E75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381565B8-DA36-5B07-00CC-8864602AEB99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3886200" y="9464040"/>
            <a:ext cx="1920240" cy="228600"/>
          </a:xfrm>
          <a:prstGeom prst="bentConnector3">
            <a:avLst/>
          </a:prstGeom>
          <a:ln w="15875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F16F6A8F-A360-C434-E686-B4E8DEDEDE4C}"/>
              </a:ext>
            </a:extLst>
          </p:cNvPr>
          <p:cNvSpPr/>
          <p:nvPr/>
        </p:nvSpPr>
        <p:spPr>
          <a:xfrm>
            <a:off x="5394960" y="10835640"/>
            <a:ext cx="2011680" cy="64008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Final = Rule signal
(confidence boosted)</a:t>
            </a:r>
          </a:p>
        </p:txBody>
      </p:sp>
      <p:cxnSp>
        <p:nvCxnSpPr>
          <p:cNvPr id="55" name="Connector 54">
            <a:extLst>
              <a:ext uri="{FF2B5EF4-FFF2-40B4-BE49-F238E27FC236}">
                <a16:creationId xmlns:a16="http://schemas.microsoft.com/office/drawing/2014/main" id="{797ACB4A-1E74-5074-96B8-621636009BD7}"/>
              </a:ext>
            </a:extLst>
          </p:cNvPr>
          <p:cNvCxnSpPr>
            <a:stCxn id="51" idx="3"/>
            <a:endCxn id="54" idx="1"/>
          </p:cNvCxnSpPr>
          <p:nvPr/>
        </p:nvCxnSpPr>
        <p:spPr>
          <a:xfrm>
            <a:off x="5029200" y="10149840"/>
            <a:ext cx="365760" cy="1005840"/>
          </a:xfrm>
          <a:prstGeom prst="bentConnector3">
            <a:avLst/>
          </a:prstGeom>
          <a:ln w="15875">
            <a:solidFill>
              <a:srgbClr val="2E75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692FC2C-6393-B890-D89C-D8D77F7A641A}"/>
              </a:ext>
            </a:extLst>
          </p:cNvPr>
          <p:cNvSpPr txBox="1"/>
          <p:nvPr/>
        </p:nvSpPr>
        <p:spPr>
          <a:xfrm>
            <a:off x="5029200" y="10515600"/>
            <a:ext cx="45720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F5027016-8BF6-7366-30A8-22E6F26B81B8}"/>
              </a:ext>
            </a:extLst>
          </p:cNvPr>
          <p:cNvSpPr/>
          <p:nvPr/>
        </p:nvSpPr>
        <p:spPr>
          <a:xfrm>
            <a:off x="365760" y="10698480"/>
            <a:ext cx="2103120" cy="914400"/>
          </a:xfrm>
          <a:prstGeom prst="diamond">
            <a:avLst/>
          </a:prstGeom>
          <a:solidFill>
            <a:srgbClr val="E2EFDA"/>
          </a:solidFill>
          <a:ln w="12700">
            <a:solidFill>
              <a:srgbClr val="2E7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Rule was HOLD
due to no crossover ?</a:t>
            </a:r>
          </a:p>
        </p:txBody>
      </p: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AEB677D1-AB19-6D92-44B9-AE3464CB8371}"/>
              </a:ext>
            </a:extLst>
          </p:cNvPr>
          <p:cNvCxnSpPr>
            <a:stCxn id="51" idx="1"/>
            <a:endCxn id="57" idx="3"/>
          </p:cNvCxnSpPr>
          <p:nvPr/>
        </p:nvCxnSpPr>
        <p:spPr>
          <a:xfrm flipH="1">
            <a:off x="2468880" y="10149840"/>
            <a:ext cx="274320" cy="1005840"/>
          </a:xfrm>
          <a:prstGeom prst="bentConnector3">
            <a:avLst/>
          </a:prstGeom>
          <a:ln w="15875">
            <a:solidFill>
              <a:srgbClr val="2E75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3945C3E-0A6D-1A90-DA1E-F79517AE2012}"/>
              </a:ext>
            </a:extLst>
          </p:cNvPr>
          <p:cNvSpPr txBox="1"/>
          <p:nvPr/>
        </p:nvSpPr>
        <p:spPr>
          <a:xfrm>
            <a:off x="2331720" y="10515600"/>
            <a:ext cx="3657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D5C32761-311B-FB43-CAE7-64F2B69AFE3B}"/>
              </a:ext>
            </a:extLst>
          </p:cNvPr>
          <p:cNvSpPr/>
          <p:nvPr/>
        </p:nvSpPr>
        <p:spPr>
          <a:xfrm>
            <a:off x="365760" y="11795760"/>
            <a:ext cx="2103120" cy="4572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RL OVERRIDES
Final = RL signal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7939BAD-5C51-9D69-B446-53C6E80C2A11}"/>
              </a:ext>
            </a:extLst>
          </p:cNvPr>
          <p:cNvSpPr/>
          <p:nvPr/>
        </p:nvSpPr>
        <p:spPr>
          <a:xfrm>
            <a:off x="2880360" y="11795760"/>
            <a:ext cx="2103120" cy="4572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Rule wins
Final = Rule (conf. reduced)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3FCC89A7-D1E8-743F-3943-CBDD3DF945EA}"/>
              </a:ext>
            </a:extLst>
          </p:cNvPr>
          <p:cNvCxnSpPr>
            <a:stCxn id="57" idx="2"/>
            <a:endCxn id="60" idx="0"/>
          </p:cNvCxnSpPr>
          <p:nvPr/>
        </p:nvCxnSpPr>
        <p:spPr>
          <a:xfrm flipH="1">
            <a:off x="1417320" y="11612880"/>
            <a:ext cx="0" cy="182880"/>
          </a:xfrm>
          <a:prstGeom prst="bentConnector3">
            <a:avLst/>
          </a:prstGeom>
          <a:ln w="15875">
            <a:solidFill>
              <a:srgbClr val="2E75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EAB8112C-BD82-ABD4-EE52-842826F6D20A}"/>
              </a:ext>
            </a:extLst>
          </p:cNvPr>
          <p:cNvCxnSpPr>
            <a:stCxn id="57" idx="3"/>
            <a:endCxn id="61" idx="1"/>
          </p:cNvCxnSpPr>
          <p:nvPr/>
        </p:nvCxnSpPr>
        <p:spPr>
          <a:xfrm>
            <a:off x="2468880" y="11155680"/>
            <a:ext cx="411480" cy="868680"/>
          </a:xfrm>
          <a:prstGeom prst="bentConnector3">
            <a:avLst/>
          </a:prstGeom>
          <a:ln w="15875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CE9D254-710A-4E35-D82B-61B2FF838C7C}"/>
              </a:ext>
            </a:extLst>
          </p:cNvPr>
          <p:cNvSpPr txBox="1"/>
          <p:nvPr/>
        </p:nvSpPr>
        <p:spPr>
          <a:xfrm>
            <a:off x="731520" y="11612880"/>
            <a:ext cx="457200" cy="18288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4AC9DB-58EA-78DE-DECC-1FFD346522D4}"/>
              </a:ext>
            </a:extLst>
          </p:cNvPr>
          <p:cNvSpPr txBox="1"/>
          <p:nvPr/>
        </p:nvSpPr>
        <p:spPr>
          <a:xfrm>
            <a:off x="2560320" y="11612880"/>
            <a:ext cx="365760" cy="18288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AFB639-166A-FAB7-2637-93E6D4F425D0}"/>
              </a:ext>
            </a:extLst>
          </p:cNvPr>
          <p:cNvSpPr txBox="1"/>
          <p:nvPr/>
        </p:nvSpPr>
        <p:spPr>
          <a:xfrm>
            <a:off x="5486400" y="640080"/>
            <a:ext cx="2103120" cy="2286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95959"/>
                </a:solidFill>
                <a:latin typeface="Calibri"/>
              </a:rPr>
              <a:t>Legend</a:t>
            </a:r>
          </a:p>
        </p:txBody>
      </p:sp>
      <p:sp>
        <p:nvSpPr>
          <p:cNvPr id="67" name="Parallelogram 66">
            <a:extLst>
              <a:ext uri="{FF2B5EF4-FFF2-40B4-BE49-F238E27FC236}">
                <a16:creationId xmlns:a16="http://schemas.microsoft.com/office/drawing/2014/main" id="{3AD9F6CA-023F-019D-5532-194E57C4A0F9}"/>
              </a:ext>
            </a:extLst>
          </p:cNvPr>
          <p:cNvSpPr/>
          <p:nvPr/>
        </p:nvSpPr>
        <p:spPr>
          <a:xfrm>
            <a:off x="5486400" y="960120"/>
            <a:ext cx="274320" cy="164592"/>
          </a:xfrm>
          <a:prstGeom prst="parallelogram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5F234D-381D-766E-EA5C-AF3D30B64EF1}"/>
              </a:ext>
            </a:extLst>
          </p:cNvPr>
          <p:cNvSpPr txBox="1"/>
          <p:nvPr/>
        </p:nvSpPr>
        <p:spPr>
          <a:xfrm>
            <a:off x="5806440" y="941832"/>
            <a:ext cx="17373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>
                <a:solidFill>
                  <a:srgbClr val="595959"/>
                </a:solidFill>
                <a:latin typeface="Calibri"/>
              </a:rPr>
              <a:t>Input / data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BC28A8C-D911-2CFC-FEE2-234CA87B180A}"/>
              </a:ext>
            </a:extLst>
          </p:cNvPr>
          <p:cNvSpPr/>
          <p:nvPr/>
        </p:nvSpPr>
        <p:spPr>
          <a:xfrm>
            <a:off x="5486400" y="1188720"/>
            <a:ext cx="274320" cy="164592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245081-D3AF-8574-FF7A-4C6A01BFF159}"/>
              </a:ext>
            </a:extLst>
          </p:cNvPr>
          <p:cNvSpPr txBox="1"/>
          <p:nvPr/>
        </p:nvSpPr>
        <p:spPr>
          <a:xfrm>
            <a:off x="5806440" y="1170432"/>
            <a:ext cx="17373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 dirty="0">
                <a:solidFill>
                  <a:srgbClr val="595959"/>
                </a:solidFill>
                <a:latin typeface="Calibri"/>
              </a:rPr>
              <a:t>Process (rule)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165CA3A-5B3D-9157-72BD-8ABC23C9EE23}"/>
              </a:ext>
            </a:extLst>
          </p:cNvPr>
          <p:cNvSpPr/>
          <p:nvPr/>
        </p:nvSpPr>
        <p:spPr>
          <a:xfrm>
            <a:off x="5486400" y="1417320"/>
            <a:ext cx="274320" cy="164592"/>
          </a:xfrm>
          <a:prstGeom prst="rect">
            <a:avLst/>
          </a:prstGeom>
          <a:solidFill>
            <a:srgbClr val="E2EFDA"/>
          </a:solidFill>
          <a:ln w="12700">
            <a:solidFill>
              <a:srgbClr val="2E7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578502-1068-0354-2A18-4117791F2F25}"/>
              </a:ext>
            </a:extLst>
          </p:cNvPr>
          <p:cNvSpPr txBox="1"/>
          <p:nvPr/>
        </p:nvSpPr>
        <p:spPr>
          <a:xfrm>
            <a:off x="5806440" y="1399032"/>
            <a:ext cx="17373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>
                <a:solidFill>
                  <a:srgbClr val="595959"/>
                </a:solidFill>
                <a:latin typeface="Calibri"/>
              </a:rPr>
              <a:t>Process (RL)</a:t>
            </a:r>
          </a:p>
        </p:txBody>
      </p:sp>
      <p:sp>
        <p:nvSpPr>
          <p:cNvPr id="73" name="Diamond 72">
            <a:extLst>
              <a:ext uri="{FF2B5EF4-FFF2-40B4-BE49-F238E27FC236}">
                <a16:creationId xmlns:a16="http://schemas.microsoft.com/office/drawing/2014/main" id="{8C71F6D7-B2C2-3F14-F2BE-807B8374ECCD}"/>
              </a:ext>
            </a:extLst>
          </p:cNvPr>
          <p:cNvSpPr/>
          <p:nvPr/>
        </p:nvSpPr>
        <p:spPr>
          <a:xfrm>
            <a:off x="5486400" y="1645920"/>
            <a:ext cx="274320" cy="18288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9F0360-083B-C1C9-2853-CA226A5B56A6}"/>
              </a:ext>
            </a:extLst>
          </p:cNvPr>
          <p:cNvSpPr txBox="1"/>
          <p:nvPr/>
        </p:nvSpPr>
        <p:spPr>
          <a:xfrm>
            <a:off x="5806440" y="1645920"/>
            <a:ext cx="17373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>
                <a:solidFill>
                  <a:srgbClr val="595959"/>
                </a:solidFill>
                <a:latin typeface="Calibri"/>
              </a:rPr>
              <a:t>Decision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89E2662C-BAC5-01B0-27BD-1E82F79F6628}"/>
              </a:ext>
            </a:extLst>
          </p:cNvPr>
          <p:cNvSpPr/>
          <p:nvPr/>
        </p:nvSpPr>
        <p:spPr>
          <a:xfrm>
            <a:off x="5486400" y="1920240"/>
            <a:ext cx="274320" cy="16459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6028A1F-F2D0-A867-A088-D79F0AA9DCF5}"/>
              </a:ext>
            </a:extLst>
          </p:cNvPr>
          <p:cNvSpPr txBox="1"/>
          <p:nvPr/>
        </p:nvSpPr>
        <p:spPr>
          <a:xfrm>
            <a:off x="5806440" y="1901952"/>
            <a:ext cx="17373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>
                <a:solidFill>
                  <a:srgbClr val="595959"/>
                </a:solidFill>
                <a:latin typeface="Calibri"/>
              </a:rPr>
              <a:t>Final / terminal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A00BAB4E-D79F-BB58-242A-759F1BA834AE}"/>
              </a:ext>
            </a:extLst>
          </p:cNvPr>
          <p:cNvSpPr/>
          <p:nvPr/>
        </p:nvSpPr>
        <p:spPr>
          <a:xfrm>
            <a:off x="5486400" y="2148840"/>
            <a:ext cx="274320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D4A0B13-4C86-0749-6C6E-8698D44CDC83}"/>
              </a:ext>
            </a:extLst>
          </p:cNvPr>
          <p:cNvSpPr txBox="1"/>
          <p:nvPr/>
        </p:nvSpPr>
        <p:spPr>
          <a:xfrm>
            <a:off x="5806440" y="2130552"/>
            <a:ext cx="17373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0">
                <a:solidFill>
                  <a:srgbClr val="C00000"/>
                </a:solidFill>
                <a:latin typeface="Calibri"/>
              </a:rPr>
              <a:t>Blocked path (RSI)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7C5F632-74DA-A450-5A55-FAD306D43DB4}"/>
              </a:ext>
            </a:extLst>
          </p:cNvPr>
          <p:cNvSpPr txBox="1"/>
          <p:nvPr/>
        </p:nvSpPr>
        <p:spPr>
          <a:xfrm>
            <a:off x="4114800" y="12070080"/>
            <a:ext cx="3566160" cy="228600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sz="700" i="1">
                <a:solidFill>
                  <a:srgbClr val="595959"/>
                </a:solidFill>
                <a:latin typeface="Calibri"/>
              </a:rPr>
              <a:t>Source: models.py : generate_paper1_signal + generate_recommendation_paper1</a:t>
            </a:r>
          </a:p>
        </p:txBody>
      </p:sp>
    </p:spTree>
    <p:extLst>
      <p:ext uri="{BB962C8B-B14F-4D97-AF65-F5344CB8AC3E}">
        <p14:creationId xmlns:p14="http://schemas.microsoft.com/office/powerpoint/2010/main" val="424302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38D4B3-61ED-4C84-CAAC-9E00897DB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76" y="114300"/>
            <a:ext cx="7291448" cy="711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89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348</Words>
  <Application>Microsoft Office PowerPoint</Application>
  <PresentationFormat>Custom</PresentationFormat>
  <Paragraphs>73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Sethmika Bellana</cp:lastModifiedBy>
  <cp:revision>3</cp:revision>
  <dcterms:created xsi:type="dcterms:W3CDTF">2013-01-27T09:14:16Z</dcterms:created>
  <dcterms:modified xsi:type="dcterms:W3CDTF">2026-04-14T17:44:53Z</dcterms:modified>
  <cp:category/>
</cp:coreProperties>
</file>