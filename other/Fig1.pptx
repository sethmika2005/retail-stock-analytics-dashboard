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6E5CA-F20C-4FF8-B9F1-DBE07D0E559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96D7C-930E-4E2D-A591-06EAE79762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18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4609-73B1-784A-97A4-D38AB5B3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294B9-F888-18A1-119D-7877AF6C4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6FB1F-1DF9-C183-9212-CD683C4E7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FC7F2-24CC-56B8-8F98-9E3135BED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0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C36A-2E4C-73DB-DBBF-E6397DF55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5284F-DE3A-FEE8-F451-6413CF496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0547F-342B-1CAC-7107-56254BEB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F1841-380B-1CF2-8D51-0FA7C628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90297-0E7B-84C3-6424-6689275D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2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F2CC-06F0-262F-D1D6-C4A5DBC9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8D6C-BD40-2A19-6AA5-F7392C5FB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82E87-6CAA-9310-E008-4AF342097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F97F-D9A7-5111-8B4F-947A8849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24E93-1E30-310F-7A16-332C9298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06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7C1C-B1E7-385D-324B-EAEAB316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A4629-EFAD-1272-FA08-7FF292EAA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D6CC-8711-3061-73C2-20543CE84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F665C-5A31-77BB-147E-93FC0011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93F9-46A6-65AE-F8A3-D9F9C92E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36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871D-880B-0D58-D5F1-7015EC60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BE799-8C28-08F9-450F-94D545EC5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7575D-35CC-9989-2EFB-4A80ECF67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2C79F-DB6F-B580-26C6-8506EB7B8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BC5F4-4B4F-7B67-0090-FEE4D271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60D4A-ABDF-70CC-4715-80CDE897F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76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7FB1-1054-BA85-3F68-6FEC6C73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C792D-F3C5-58D7-4D5C-5862002F0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E2D7E-603E-2018-17F8-71A732A9C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54FFA-0070-CEDB-C67B-2034DAA1B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BBAD2-0324-89EC-FABF-C6FB0D374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35D1D7-98A9-399D-AC88-36CB990B8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15AE6-89D2-EED4-A44D-E8C480F2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DA87A-FA95-41CF-AE8F-1DFB6C16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20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EBE5-C870-F716-BEDA-46309224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8663A-FA58-EBD9-6CE2-4BBB1037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FC0CE-4057-EA4D-35CA-2A5DB30DA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75380-2729-88C3-069B-06269C73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28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E541B-B094-327C-F9D7-0E670617C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12A8D-860D-E829-ED8F-499937B5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8D7FC-8824-C7A1-0CEB-6DE27D23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34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B61E-F2BC-478B-E349-76EF8B43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97747-3ADC-95F1-5EC4-8FF796BAA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4C38B-7384-9348-3F40-A41FA535F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8C509-88D9-13DF-41F3-DBA19524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69D54-3E5F-947C-D0D6-2FAC2383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75A11-9EB0-9B98-EDF5-9F6486F87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12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5EF-1290-BF64-BEA7-45E9C6DF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455024-F894-4298-1E83-3D9A2EFCB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361AB-352E-7AB7-7EB8-5EC3CB2EA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9E013-2C96-1B5F-72CB-1FED22E1A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34A4A-1907-A3BA-C429-9B1C94A2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9E35B-996B-34FC-C474-86B97208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28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EC1E-318F-D98F-2633-1BC5B1FBF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C3361-154E-2D0F-420C-70FE42484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65AEB-3CAD-8986-32FA-60300963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71DBD-6A0B-76E0-9353-B277915C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A7459-5EBD-2261-39FC-5589DDFB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02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826983-E820-421B-1CE4-9656125EB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08C9D-5A6D-A9CD-8E16-0A8FB42DA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03371-C8D3-DCFE-9582-782E433E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7FCF-1369-DBCF-5C51-2155F3A1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9F214-F92E-2FC8-A132-95E67171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02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1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45D74-7649-535D-3330-C1F44EC6D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B82C6-41F9-FF9A-131D-6B3076C4E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4073B-3613-0D21-782F-E84A62BDB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E0606-401B-4E87-AECE-8DFC419442F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39425-0F04-DDFE-49EA-15796082B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222BB-FD68-086C-75FF-AF930D831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FCDBA-C189-4AA6-9BD4-9D6BAF320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69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650E5-0970-5DD6-A21E-78701F44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4D978D1-E181-2B7B-DF28-6DE799D56781}"/>
              </a:ext>
            </a:extLst>
          </p:cNvPr>
          <p:cNvGrpSpPr/>
          <p:nvPr/>
        </p:nvGrpSpPr>
        <p:grpSpPr>
          <a:xfrm>
            <a:off x="931036" y="441589"/>
            <a:ext cx="7831587" cy="6319307"/>
            <a:chOff x="931036" y="441589"/>
            <a:chExt cx="7831587" cy="6319307"/>
          </a:xfrm>
        </p:grpSpPr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9A49033-2DF5-94E4-8266-79417DCF18EC}"/>
                </a:ext>
              </a:extLst>
            </p:cNvPr>
            <p:cNvSpPr/>
            <p:nvPr/>
          </p:nvSpPr>
          <p:spPr>
            <a:xfrm>
              <a:off x="1090244" y="1655621"/>
              <a:ext cx="2018450" cy="201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95" b="1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Analytical Engine</a:t>
              </a:r>
              <a:endParaRPr lang="en-US" sz="795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3213CD7-9FC7-BBC2-F10E-7B68666E66C5}"/>
                </a:ext>
              </a:extLst>
            </p:cNvPr>
            <p:cNvGrpSpPr/>
            <p:nvPr/>
          </p:nvGrpSpPr>
          <p:grpSpPr>
            <a:xfrm>
              <a:off x="1090244" y="441589"/>
              <a:ext cx="7580296" cy="1309407"/>
              <a:chOff x="1062157" y="45601"/>
              <a:chExt cx="8585080" cy="1482972"/>
            </a:xfrm>
          </p:grpSpPr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3E7FB9DA-BFB8-3577-7AB4-22903BE38569}"/>
                  </a:ext>
                </a:extLst>
              </p:cNvPr>
              <p:cNvSpPr/>
              <p:nvPr/>
            </p:nvSpPr>
            <p:spPr>
              <a:xfrm>
                <a:off x="1062157" y="45601"/>
                <a:ext cx="18288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795" b="1" dirty="0">
                    <a:solidFill>
                      <a:srgbClr val="33333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Data Layer</a:t>
                </a:r>
                <a:endParaRPr lang="en-US" sz="795" dirty="0"/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F46BF41F-FCB8-EB3E-E515-AA2837BCA7E1}"/>
                  </a:ext>
                </a:extLst>
              </p:cNvPr>
              <p:cNvGrpSpPr/>
              <p:nvPr/>
            </p:nvGrpSpPr>
            <p:grpSpPr>
              <a:xfrm>
                <a:off x="1417637" y="339853"/>
                <a:ext cx="2103120" cy="502920"/>
                <a:chOff x="1417637" y="339853"/>
                <a:chExt cx="2103120" cy="502920"/>
              </a:xfrm>
            </p:grpSpPr>
            <p:sp>
              <p:nvSpPr>
                <p:cNvPr id="3" name="Shape 1">
                  <a:extLst>
                    <a:ext uri="{FF2B5EF4-FFF2-40B4-BE49-F238E27FC236}">
                      <a16:creationId xmlns:a16="http://schemas.microsoft.com/office/drawing/2014/main" id="{40BF2151-9CBB-3021-362F-AC54C726B5F6}"/>
                    </a:ext>
                  </a:extLst>
                </p:cNvPr>
                <p:cNvSpPr/>
                <p:nvPr/>
              </p:nvSpPr>
              <p:spPr>
                <a:xfrm>
                  <a:off x="1417637" y="339853"/>
                  <a:ext cx="2103120" cy="502920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3F2FD"/>
                </a:solidFill>
                <a:ln w="16510">
                  <a:solidFill>
                    <a:srgbClr val="1976D2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 dirty="0"/>
                </a:p>
              </p:txBody>
            </p:sp>
            <p:sp>
              <p:nvSpPr>
                <p:cNvPr id="4" name="Text 2">
                  <a:extLst>
                    <a:ext uri="{FF2B5EF4-FFF2-40B4-BE49-F238E27FC236}">
                      <a16:creationId xmlns:a16="http://schemas.microsoft.com/office/drawing/2014/main" id="{F0A5E5E9-C2A7-E9B7-0134-19CD1D3F47E2}"/>
                    </a:ext>
                  </a:extLst>
                </p:cNvPr>
                <p:cNvSpPr/>
                <p:nvPr/>
              </p:nvSpPr>
              <p:spPr>
                <a:xfrm>
                  <a:off x="1490789" y="358141"/>
                  <a:ext cx="1956816" cy="46634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Yahoo Finance API</a:t>
                  </a:r>
                  <a:endParaRPr lang="en-US" sz="706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Daily price data &amp; company financials</a:t>
                  </a:r>
                  <a:endParaRPr lang="en-US" sz="706" dirty="0"/>
                </a:p>
              </p:txBody>
            </p: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56222D5D-932C-4C55-2C32-7C54AB8D1A34}"/>
                  </a:ext>
                </a:extLst>
              </p:cNvPr>
              <p:cNvGrpSpPr/>
              <p:nvPr/>
            </p:nvGrpSpPr>
            <p:grpSpPr>
              <a:xfrm>
                <a:off x="4480877" y="339853"/>
                <a:ext cx="2103120" cy="502920"/>
                <a:chOff x="4480877" y="339853"/>
                <a:chExt cx="2103120" cy="502920"/>
              </a:xfrm>
            </p:grpSpPr>
            <p:sp>
              <p:nvSpPr>
                <p:cNvPr id="5" name="Shape 3">
                  <a:extLst>
                    <a:ext uri="{FF2B5EF4-FFF2-40B4-BE49-F238E27FC236}">
                      <a16:creationId xmlns:a16="http://schemas.microsoft.com/office/drawing/2014/main" id="{5A8AEEBF-101C-2625-65AA-DEA089C90799}"/>
                    </a:ext>
                  </a:extLst>
                </p:cNvPr>
                <p:cNvSpPr/>
                <p:nvPr/>
              </p:nvSpPr>
              <p:spPr>
                <a:xfrm>
                  <a:off x="4480877" y="339853"/>
                  <a:ext cx="2103120" cy="502920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3F2FD"/>
                </a:solidFill>
                <a:ln w="16510">
                  <a:solidFill>
                    <a:srgbClr val="1976D2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6" name="Text 4">
                  <a:extLst>
                    <a:ext uri="{FF2B5EF4-FFF2-40B4-BE49-F238E27FC236}">
                      <a16:creationId xmlns:a16="http://schemas.microsoft.com/office/drawing/2014/main" id="{FE891616-A288-426E-21E4-256D5B16AAEA}"/>
                    </a:ext>
                  </a:extLst>
                </p:cNvPr>
                <p:cNvSpPr/>
                <p:nvPr/>
              </p:nvSpPr>
              <p:spPr>
                <a:xfrm>
                  <a:off x="4554029" y="358141"/>
                  <a:ext cx="1956816" cy="46634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Finnhub API</a:t>
                  </a:r>
                  <a:endParaRPr lang="en-US" sz="706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News Headlines &amp; Company Logo</a:t>
                  </a:r>
                  <a:endParaRPr lang="en-US" sz="706" dirty="0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ED9C64E0-AB68-44E8-2C49-86D0E8406504}"/>
                  </a:ext>
                </a:extLst>
              </p:cNvPr>
              <p:cNvGrpSpPr/>
              <p:nvPr/>
            </p:nvGrpSpPr>
            <p:grpSpPr>
              <a:xfrm>
                <a:off x="7544117" y="339853"/>
                <a:ext cx="2103120" cy="502920"/>
                <a:chOff x="7544117" y="339853"/>
                <a:chExt cx="2103120" cy="502920"/>
              </a:xfrm>
            </p:grpSpPr>
            <p:sp>
              <p:nvSpPr>
                <p:cNvPr id="7" name="Shape 5">
                  <a:extLst>
                    <a:ext uri="{FF2B5EF4-FFF2-40B4-BE49-F238E27FC236}">
                      <a16:creationId xmlns:a16="http://schemas.microsoft.com/office/drawing/2014/main" id="{B9C86EA4-26E3-D5EB-BFF6-D19839CF2149}"/>
                    </a:ext>
                  </a:extLst>
                </p:cNvPr>
                <p:cNvSpPr/>
                <p:nvPr/>
              </p:nvSpPr>
              <p:spPr>
                <a:xfrm>
                  <a:off x="7544117" y="339853"/>
                  <a:ext cx="2103120" cy="502920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3F2FD"/>
                </a:solidFill>
                <a:ln w="16510">
                  <a:solidFill>
                    <a:srgbClr val="1976D2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8" name="Text 6">
                  <a:extLst>
                    <a:ext uri="{FF2B5EF4-FFF2-40B4-BE49-F238E27FC236}">
                      <a16:creationId xmlns:a16="http://schemas.microsoft.com/office/drawing/2014/main" id="{28D5536B-DF14-9BE6-EB8A-3F408CF27690}"/>
                    </a:ext>
                  </a:extLst>
                </p:cNvPr>
                <p:cNvSpPr/>
                <p:nvPr/>
              </p:nvSpPr>
              <p:spPr>
                <a:xfrm>
                  <a:off x="7617269" y="358141"/>
                  <a:ext cx="1956816" cy="46634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Wikipedia</a:t>
                  </a:r>
                  <a:endParaRPr lang="en-US" sz="706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S&amp;P 500 and Nasdaq-100 stock lists</a:t>
                  </a:r>
                  <a:endParaRPr lang="en-US" sz="706" dirty="0"/>
                </a:p>
              </p:txBody>
            </p:sp>
          </p:grpSp>
          <p:sp>
            <p:nvSpPr>
              <p:cNvPr id="10" name="Shape 8">
                <a:extLst>
                  <a:ext uri="{FF2B5EF4-FFF2-40B4-BE49-F238E27FC236}">
                    <a16:creationId xmlns:a16="http://schemas.microsoft.com/office/drawing/2014/main" id="{FCFBACED-9935-A5E2-3DE5-FC7B21A1C905}"/>
                  </a:ext>
                </a:extLst>
              </p:cNvPr>
              <p:cNvSpPr/>
              <p:nvPr/>
            </p:nvSpPr>
            <p:spPr>
              <a:xfrm>
                <a:off x="5532437" y="842773"/>
                <a:ext cx="0" cy="182880"/>
              </a:xfrm>
              <a:prstGeom prst="line">
                <a:avLst/>
              </a:prstGeom>
              <a:noFill/>
              <a:ln w="15240">
                <a:solidFill>
                  <a:srgbClr val="555555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pPr algn="ctr"/>
                <a:endParaRPr lang="en-GB" sz="1589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FF2CB57-89F1-0548-CD21-68BBE8FED474}"/>
                  </a:ext>
                </a:extLst>
              </p:cNvPr>
              <p:cNvGrpSpPr/>
              <p:nvPr/>
            </p:nvGrpSpPr>
            <p:grpSpPr>
              <a:xfrm>
                <a:off x="3977957" y="1025653"/>
                <a:ext cx="3108960" cy="502920"/>
                <a:chOff x="3977957" y="1025653"/>
                <a:chExt cx="3108960" cy="502920"/>
              </a:xfrm>
            </p:grpSpPr>
            <p:sp>
              <p:nvSpPr>
                <p:cNvPr id="12" name="Shape 10">
                  <a:extLst>
                    <a:ext uri="{FF2B5EF4-FFF2-40B4-BE49-F238E27FC236}">
                      <a16:creationId xmlns:a16="http://schemas.microsoft.com/office/drawing/2014/main" id="{097F5D55-2186-566C-1BA8-760973096EDC}"/>
                    </a:ext>
                  </a:extLst>
                </p:cNvPr>
                <p:cNvSpPr/>
                <p:nvPr/>
              </p:nvSpPr>
              <p:spPr>
                <a:xfrm>
                  <a:off x="3977957" y="1025653"/>
                  <a:ext cx="3108960" cy="502920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3F2FD"/>
                </a:solidFill>
                <a:ln w="16510">
                  <a:solidFill>
                    <a:srgbClr val="1976D2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13" name="Text 11">
                  <a:extLst>
                    <a:ext uri="{FF2B5EF4-FFF2-40B4-BE49-F238E27FC236}">
                      <a16:creationId xmlns:a16="http://schemas.microsoft.com/office/drawing/2014/main" id="{DE9102F4-0B51-EE97-6F2D-30AB0300088D}"/>
                    </a:ext>
                  </a:extLst>
                </p:cNvPr>
                <p:cNvSpPr/>
                <p:nvPr/>
              </p:nvSpPr>
              <p:spPr>
                <a:xfrm>
                  <a:off x="4051109" y="1043941"/>
                  <a:ext cx="2962656" cy="46634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Data Ingestion &amp; Caching</a:t>
                  </a:r>
                  <a:endParaRPr lang="en-US" sz="706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Cached with time-based expiry for fast retrieval</a:t>
                  </a:r>
                  <a:endParaRPr lang="en-US" sz="706" dirty="0"/>
                </a:p>
              </p:txBody>
            </p:sp>
          </p:grpSp>
          <p:cxnSp>
            <p:nvCxnSpPr>
              <p:cNvPr id="71" name="Connector: Elbow 70">
                <a:extLst>
                  <a:ext uri="{FF2B5EF4-FFF2-40B4-BE49-F238E27FC236}">
                    <a16:creationId xmlns:a16="http://schemas.microsoft.com/office/drawing/2014/main" id="{8C5DCE2C-C724-952B-2716-94ED070FE50A}"/>
                  </a:ext>
                </a:extLst>
              </p:cNvPr>
              <p:cNvCxnSpPr>
                <a:stCxn id="3" idx="2"/>
                <a:endCxn id="12" idx="1"/>
              </p:cNvCxnSpPr>
              <p:nvPr/>
            </p:nvCxnSpPr>
            <p:spPr>
              <a:xfrm rot="16200000" flipH="1">
                <a:off x="3006407" y="305563"/>
                <a:ext cx="434340" cy="1508760"/>
              </a:xfrm>
              <a:prstGeom prst="bentConnector2">
                <a:avLst/>
              </a:prstGeom>
              <a:ln w="15240">
                <a:solidFill>
                  <a:srgbClr val="55555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nector: Elbow 74">
                <a:extLst>
                  <a:ext uri="{FF2B5EF4-FFF2-40B4-BE49-F238E27FC236}">
                    <a16:creationId xmlns:a16="http://schemas.microsoft.com/office/drawing/2014/main" id="{9EDCDDC5-11AF-EE4F-60E0-8393DFF327F4}"/>
                  </a:ext>
                </a:extLst>
              </p:cNvPr>
              <p:cNvCxnSpPr>
                <a:stCxn id="7" idx="2"/>
                <a:endCxn id="12" idx="3"/>
              </p:cNvCxnSpPr>
              <p:nvPr/>
            </p:nvCxnSpPr>
            <p:spPr>
              <a:xfrm rot="5400000">
                <a:off x="7624127" y="305563"/>
                <a:ext cx="434340" cy="1508760"/>
              </a:xfrm>
              <a:prstGeom prst="bentConnector2">
                <a:avLst/>
              </a:prstGeom>
              <a:ln w="15240">
                <a:solidFill>
                  <a:srgbClr val="55555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4" name="Connector: Elbow 83">
              <a:extLst>
                <a:ext uri="{FF2B5EF4-FFF2-40B4-BE49-F238E27FC236}">
                  <a16:creationId xmlns:a16="http://schemas.microsoft.com/office/drawing/2014/main" id="{CA8EF156-2605-6286-018F-68A165D7A0A2}"/>
                </a:ext>
              </a:extLst>
            </p:cNvPr>
            <p:cNvCxnSpPr>
              <a:stCxn id="12" idx="2"/>
              <a:endCxn id="20" idx="0"/>
            </p:cNvCxnSpPr>
            <p:nvPr/>
          </p:nvCxnSpPr>
          <p:spPr>
            <a:xfrm rot="5400000">
              <a:off x="3162045" y="410716"/>
              <a:ext cx="535004" cy="3215565"/>
            </a:xfrm>
            <a:prstGeom prst="bentConnector3">
              <a:avLst>
                <a:gd name="adj1" fmla="val 50000"/>
              </a:avLst>
            </a:prstGeom>
            <a:ln w="1524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D96DB875-0AE6-B845-5DC5-DF8BE219D810}"/>
                </a:ext>
              </a:extLst>
            </p:cNvPr>
            <p:cNvCxnSpPr>
              <a:stCxn id="12" idx="2"/>
              <a:endCxn id="30" idx="0"/>
            </p:cNvCxnSpPr>
            <p:nvPr/>
          </p:nvCxnSpPr>
          <p:spPr>
            <a:xfrm rot="5400000">
              <a:off x="3984730" y="1233401"/>
              <a:ext cx="535004" cy="1570194"/>
            </a:xfrm>
            <a:prstGeom prst="bentConnector3">
              <a:avLst>
                <a:gd name="adj1" fmla="val 50000"/>
              </a:avLst>
            </a:prstGeom>
            <a:ln w="1524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0F96D626-5A07-77B3-87A8-5B0C0264742E}"/>
                </a:ext>
              </a:extLst>
            </p:cNvPr>
            <p:cNvCxnSpPr>
              <a:stCxn id="13" idx="2"/>
              <a:endCxn id="32" idx="0"/>
            </p:cNvCxnSpPr>
            <p:nvPr/>
          </p:nvCxnSpPr>
          <p:spPr>
            <a:xfrm rot="5400000">
              <a:off x="4760940" y="2009610"/>
              <a:ext cx="551151" cy="1629"/>
            </a:xfrm>
            <a:prstGeom prst="bentConnector3">
              <a:avLst>
                <a:gd name="adj1" fmla="val 50000"/>
              </a:avLst>
            </a:prstGeom>
            <a:ln w="1524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6F904A34-DCEA-C080-0323-26E72180E3F9}"/>
                </a:ext>
              </a:extLst>
            </p:cNvPr>
            <p:cNvCxnSpPr>
              <a:cxnSpLocks/>
              <a:stCxn id="12" idx="2"/>
              <a:endCxn id="36" idx="0"/>
            </p:cNvCxnSpPr>
            <p:nvPr/>
          </p:nvCxnSpPr>
          <p:spPr>
            <a:xfrm rot="16200000" flipH="1">
              <a:off x="6172342" y="615983"/>
              <a:ext cx="535004" cy="2805030"/>
            </a:xfrm>
            <a:prstGeom prst="bentConnector3">
              <a:avLst>
                <a:gd name="adj1" fmla="val 50000"/>
              </a:avLst>
            </a:prstGeom>
            <a:ln w="1524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5659A63-CF30-2879-6690-0460DB6647DF}"/>
                </a:ext>
              </a:extLst>
            </p:cNvPr>
            <p:cNvGrpSpPr/>
            <p:nvPr/>
          </p:nvGrpSpPr>
          <p:grpSpPr>
            <a:xfrm>
              <a:off x="1090244" y="5480740"/>
              <a:ext cx="7330462" cy="1280156"/>
              <a:chOff x="945464" y="4985440"/>
              <a:chExt cx="7330462" cy="1280156"/>
            </a:xfrm>
          </p:grpSpPr>
          <p:sp>
            <p:nvSpPr>
              <p:cNvPr id="50" name="Text 48">
                <a:extLst>
                  <a:ext uri="{FF2B5EF4-FFF2-40B4-BE49-F238E27FC236}">
                    <a16:creationId xmlns:a16="http://schemas.microsoft.com/office/drawing/2014/main" id="{7350053E-620C-1C05-C959-C645CB9AC03E}"/>
                  </a:ext>
                </a:extLst>
              </p:cNvPr>
              <p:cNvSpPr/>
              <p:nvPr/>
            </p:nvSpPr>
            <p:spPr>
              <a:xfrm>
                <a:off x="945464" y="4985440"/>
                <a:ext cx="2018450" cy="2018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795" b="1" dirty="0">
                    <a:solidFill>
                      <a:srgbClr val="33333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Presentation Layer</a:t>
                </a:r>
                <a:endParaRPr lang="en-US" sz="795" dirty="0"/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AAC6F9E9-4281-4E80-1AB6-FEE0AAD82136}"/>
                  </a:ext>
                </a:extLst>
              </p:cNvPr>
              <p:cNvGrpSpPr/>
              <p:nvPr/>
            </p:nvGrpSpPr>
            <p:grpSpPr>
              <a:xfrm>
                <a:off x="3512383" y="5010121"/>
                <a:ext cx="2745092" cy="444059"/>
                <a:chOff x="3977957" y="5219701"/>
                <a:chExt cx="3108960" cy="502920"/>
              </a:xfrm>
            </p:grpSpPr>
            <p:sp>
              <p:nvSpPr>
                <p:cNvPr id="51" name="Shape 49">
                  <a:extLst>
                    <a:ext uri="{FF2B5EF4-FFF2-40B4-BE49-F238E27FC236}">
                      <a16:creationId xmlns:a16="http://schemas.microsoft.com/office/drawing/2014/main" id="{8E50727D-2D38-2B16-74FA-A18A642B522D}"/>
                    </a:ext>
                  </a:extLst>
                </p:cNvPr>
                <p:cNvSpPr/>
                <p:nvPr/>
              </p:nvSpPr>
              <p:spPr>
                <a:xfrm>
                  <a:off x="3977957" y="5219701"/>
                  <a:ext cx="3108960" cy="502920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FFF3E0"/>
                </a:solidFill>
                <a:ln w="16510">
                  <a:solidFill>
                    <a:srgbClr val="F57C00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52" name="Text 50">
                  <a:extLst>
                    <a:ext uri="{FF2B5EF4-FFF2-40B4-BE49-F238E27FC236}">
                      <a16:creationId xmlns:a16="http://schemas.microsoft.com/office/drawing/2014/main" id="{55B69385-80B5-2562-2B42-5006563C0E32}"/>
                    </a:ext>
                  </a:extLst>
                </p:cNvPr>
                <p:cNvSpPr/>
                <p:nvPr/>
              </p:nvSpPr>
              <p:spPr>
                <a:xfrm>
                  <a:off x="4051109" y="5237989"/>
                  <a:ext cx="2962656" cy="46634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Streamlit Dashboard</a:t>
                  </a:r>
                  <a:endParaRPr lang="en-US" sz="706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Interactive visualisation &amp; real-time updates</a:t>
                  </a:r>
                  <a:endParaRPr lang="en-US" sz="706" dirty="0"/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3C755D10-1517-57E3-E262-21DE91BDDA6D}"/>
                  </a:ext>
                </a:extLst>
              </p:cNvPr>
              <p:cNvGrpSpPr/>
              <p:nvPr/>
            </p:nvGrpSpPr>
            <p:grpSpPr>
              <a:xfrm>
                <a:off x="1130612" y="5821537"/>
                <a:ext cx="1695498" cy="444059"/>
                <a:chOff x="1280477" y="6138673"/>
                <a:chExt cx="1920240" cy="502920"/>
              </a:xfrm>
            </p:grpSpPr>
            <p:sp>
              <p:nvSpPr>
                <p:cNvPr id="57" name="Shape 55">
                  <a:extLst>
                    <a:ext uri="{FF2B5EF4-FFF2-40B4-BE49-F238E27FC236}">
                      <a16:creationId xmlns:a16="http://schemas.microsoft.com/office/drawing/2014/main" id="{339BC89B-62BD-45A6-DB0B-E4D79DCD21E7}"/>
                    </a:ext>
                  </a:extLst>
                </p:cNvPr>
                <p:cNvSpPr/>
                <p:nvPr/>
              </p:nvSpPr>
              <p:spPr>
                <a:xfrm>
                  <a:off x="1280477" y="6138673"/>
                  <a:ext cx="1920240" cy="502920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FFF3E0"/>
                </a:solidFill>
                <a:ln w="16510">
                  <a:solidFill>
                    <a:srgbClr val="F57C00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58" name="Text 56">
                  <a:extLst>
                    <a:ext uri="{FF2B5EF4-FFF2-40B4-BE49-F238E27FC236}">
                      <a16:creationId xmlns:a16="http://schemas.microsoft.com/office/drawing/2014/main" id="{B7866F7B-62D9-6C50-22A3-1620CC6F53B7}"/>
                    </a:ext>
                  </a:extLst>
                </p:cNvPr>
                <p:cNvSpPr/>
                <p:nvPr/>
              </p:nvSpPr>
              <p:spPr>
                <a:xfrm>
                  <a:off x="1353629" y="6156961"/>
                  <a:ext cx="1773936" cy="46634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Executive Summary</a:t>
                  </a:r>
                  <a:endParaRPr lang="en-US" sz="706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KPIs, Alerts, Overview</a:t>
                  </a:r>
                  <a:endParaRPr lang="en-US" sz="706" dirty="0"/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DF337623-180D-ABF3-F3C0-B0D74F90D6AA}"/>
                  </a:ext>
                </a:extLst>
              </p:cNvPr>
              <p:cNvGrpSpPr/>
              <p:nvPr/>
            </p:nvGrpSpPr>
            <p:grpSpPr>
              <a:xfrm>
                <a:off x="2947217" y="5821537"/>
                <a:ext cx="1695498" cy="444059"/>
                <a:chOff x="3337877" y="6138673"/>
                <a:chExt cx="1920240" cy="502920"/>
              </a:xfrm>
            </p:grpSpPr>
            <p:sp>
              <p:nvSpPr>
                <p:cNvPr id="59" name="Shape 57">
                  <a:extLst>
                    <a:ext uri="{FF2B5EF4-FFF2-40B4-BE49-F238E27FC236}">
                      <a16:creationId xmlns:a16="http://schemas.microsoft.com/office/drawing/2014/main" id="{CF03540F-7E75-C12A-BD71-853280BAADA1}"/>
                    </a:ext>
                  </a:extLst>
                </p:cNvPr>
                <p:cNvSpPr/>
                <p:nvPr/>
              </p:nvSpPr>
              <p:spPr>
                <a:xfrm>
                  <a:off x="3337877" y="6138673"/>
                  <a:ext cx="1920240" cy="502920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FFF3E0"/>
                </a:solidFill>
                <a:ln w="16510">
                  <a:solidFill>
                    <a:srgbClr val="F57C00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60" name="Text 58">
                  <a:extLst>
                    <a:ext uri="{FF2B5EF4-FFF2-40B4-BE49-F238E27FC236}">
                      <a16:creationId xmlns:a16="http://schemas.microsoft.com/office/drawing/2014/main" id="{754F1E5A-BBD7-499B-7B87-27C359BB796A}"/>
                    </a:ext>
                  </a:extLst>
                </p:cNvPr>
                <p:cNvSpPr/>
                <p:nvPr/>
              </p:nvSpPr>
              <p:spPr>
                <a:xfrm>
                  <a:off x="3411029" y="6156961"/>
                  <a:ext cx="1773936" cy="46634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Technical Analysis</a:t>
                  </a:r>
                  <a:endParaRPr lang="en-US" sz="706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Charts &amp; indicator breakdown</a:t>
                  </a:r>
                  <a:endParaRPr lang="en-US" sz="706" dirty="0"/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8ED07431-520F-ED64-AF19-0EAE472D64F7}"/>
                  </a:ext>
                </a:extLst>
              </p:cNvPr>
              <p:cNvGrpSpPr/>
              <p:nvPr/>
            </p:nvGrpSpPr>
            <p:grpSpPr>
              <a:xfrm>
                <a:off x="4763823" y="5821537"/>
                <a:ext cx="1695498" cy="444059"/>
                <a:chOff x="5395277" y="6138673"/>
                <a:chExt cx="1920240" cy="502920"/>
              </a:xfrm>
            </p:grpSpPr>
            <p:sp>
              <p:nvSpPr>
                <p:cNvPr id="61" name="Shape 59">
                  <a:extLst>
                    <a:ext uri="{FF2B5EF4-FFF2-40B4-BE49-F238E27FC236}">
                      <a16:creationId xmlns:a16="http://schemas.microsoft.com/office/drawing/2014/main" id="{2130760B-330C-AD43-962E-4572DA72686C}"/>
                    </a:ext>
                  </a:extLst>
                </p:cNvPr>
                <p:cNvSpPr/>
                <p:nvPr/>
              </p:nvSpPr>
              <p:spPr>
                <a:xfrm>
                  <a:off x="5395277" y="6138673"/>
                  <a:ext cx="1920240" cy="502920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FFF3E0"/>
                </a:solidFill>
                <a:ln w="16510">
                  <a:solidFill>
                    <a:srgbClr val="F57C00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62" name="Text 60">
                  <a:extLst>
                    <a:ext uri="{FF2B5EF4-FFF2-40B4-BE49-F238E27FC236}">
                      <a16:creationId xmlns:a16="http://schemas.microsoft.com/office/drawing/2014/main" id="{13404E56-8F9F-3251-250E-1FEBEA07754A}"/>
                    </a:ext>
                  </a:extLst>
                </p:cNvPr>
                <p:cNvSpPr/>
                <p:nvPr/>
              </p:nvSpPr>
              <p:spPr>
                <a:xfrm>
                  <a:off x="5468429" y="6156961"/>
                  <a:ext cx="1773936" cy="46634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Fundamentals</a:t>
                  </a:r>
                  <a:endParaRPr lang="en-US" sz="706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F-Score, Ratios &amp; peer comparison</a:t>
                  </a:r>
                  <a:endParaRPr lang="en-US" sz="706" dirty="0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999B9A6E-B608-A4B6-B0C8-02A88EA08434}"/>
                  </a:ext>
                </a:extLst>
              </p:cNvPr>
              <p:cNvGrpSpPr/>
              <p:nvPr/>
            </p:nvGrpSpPr>
            <p:grpSpPr>
              <a:xfrm>
                <a:off x="6580428" y="5821537"/>
                <a:ext cx="1695498" cy="444059"/>
                <a:chOff x="7452677" y="6138673"/>
                <a:chExt cx="1920240" cy="502920"/>
              </a:xfrm>
            </p:grpSpPr>
            <p:sp>
              <p:nvSpPr>
                <p:cNvPr id="63" name="Shape 61">
                  <a:extLst>
                    <a:ext uri="{FF2B5EF4-FFF2-40B4-BE49-F238E27FC236}">
                      <a16:creationId xmlns:a16="http://schemas.microsoft.com/office/drawing/2014/main" id="{427A0CF2-1D48-57C8-A4BD-DA01D2FF9AE9}"/>
                    </a:ext>
                  </a:extLst>
                </p:cNvPr>
                <p:cNvSpPr/>
                <p:nvPr/>
              </p:nvSpPr>
              <p:spPr>
                <a:xfrm>
                  <a:off x="7452677" y="6138673"/>
                  <a:ext cx="1920240" cy="502920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FFF3E0"/>
                </a:solidFill>
                <a:ln w="16510">
                  <a:solidFill>
                    <a:srgbClr val="F57C00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64" name="Text 62">
                  <a:extLst>
                    <a:ext uri="{FF2B5EF4-FFF2-40B4-BE49-F238E27FC236}">
                      <a16:creationId xmlns:a16="http://schemas.microsoft.com/office/drawing/2014/main" id="{815103A4-D601-AFF6-4FCF-B822626536B1}"/>
                    </a:ext>
                  </a:extLst>
                </p:cNvPr>
                <p:cNvSpPr/>
                <p:nvPr/>
              </p:nvSpPr>
              <p:spPr>
                <a:xfrm>
                  <a:off x="7525829" y="6156961"/>
                  <a:ext cx="1773936" cy="46634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News Feed</a:t>
                  </a:r>
                  <a:endParaRPr lang="en-US" sz="706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New headlines &amp; Sentiment</a:t>
                  </a:r>
                  <a:endParaRPr lang="en-US" sz="706" dirty="0"/>
                </a:p>
              </p:txBody>
            </p:sp>
          </p:grpSp>
          <p:cxnSp>
            <p:nvCxnSpPr>
              <p:cNvPr id="124" name="Connector: Elbow 123">
                <a:extLst>
                  <a:ext uri="{FF2B5EF4-FFF2-40B4-BE49-F238E27FC236}">
                    <a16:creationId xmlns:a16="http://schemas.microsoft.com/office/drawing/2014/main" id="{D04A2767-D233-4973-29D5-FBF3B664B77D}"/>
                  </a:ext>
                </a:extLst>
              </p:cNvPr>
              <p:cNvCxnSpPr>
                <a:cxnSpLocks/>
                <a:stCxn id="52" idx="2"/>
                <a:endCxn id="63" idx="0"/>
              </p:cNvCxnSpPr>
              <p:nvPr/>
            </p:nvCxnSpPr>
            <p:spPr>
              <a:xfrm rot="16200000" flipH="1">
                <a:off x="5964801" y="4358161"/>
                <a:ext cx="383505" cy="2543247"/>
              </a:xfrm>
              <a:prstGeom prst="bentConnector3">
                <a:avLst>
                  <a:gd name="adj1" fmla="val 50000"/>
                </a:avLst>
              </a:prstGeom>
              <a:ln w="15494">
                <a:solidFill>
                  <a:srgbClr val="55555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Connector: Elbow 128">
                <a:extLst>
                  <a:ext uri="{FF2B5EF4-FFF2-40B4-BE49-F238E27FC236}">
                    <a16:creationId xmlns:a16="http://schemas.microsoft.com/office/drawing/2014/main" id="{572AE783-D9A2-4F3E-5C76-5088D9EA28BD}"/>
                  </a:ext>
                </a:extLst>
              </p:cNvPr>
              <p:cNvCxnSpPr>
                <a:stCxn id="52" idx="2"/>
                <a:endCxn id="57" idx="0"/>
              </p:cNvCxnSpPr>
              <p:nvPr/>
            </p:nvCxnSpPr>
            <p:spPr>
              <a:xfrm rot="5400000">
                <a:off x="3239893" y="4176500"/>
                <a:ext cx="383505" cy="2906568"/>
              </a:xfrm>
              <a:prstGeom prst="bentConnector3">
                <a:avLst/>
              </a:prstGeom>
              <a:ln w="15494">
                <a:solidFill>
                  <a:srgbClr val="55555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Connector: Elbow 130">
                <a:extLst>
                  <a:ext uri="{FF2B5EF4-FFF2-40B4-BE49-F238E27FC236}">
                    <a16:creationId xmlns:a16="http://schemas.microsoft.com/office/drawing/2014/main" id="{D8FE1E0D-B1E9-77B3-5EEE-1DA297A0E1B7}"/>
                  </a:ext>
                </a:extLst>
              </p:cNvPr>
              <p:cNvCxnSpPr>
                <a:stCxn id="51" idx="2"/>
                <a:endCxn id="59" idx="0"/>
              </p:cNvCxnSpPr>
              <p:nvPr/>
            </p:nvCxnSpPr>
            <p:spPr>
              <a:xfrm rot="5400000">
                <a:off x="4156269" y="5092877"/>
                <a:ext cx="367358" cy="1089963"/>
              </a:xfrm>
              <a:prstGeom prst="bentConnector3">
                <a:avLst>
                  <a:gd name="adj1" fmla="val 47710"/>
                </a:avLst>
              </a:prstGeom>
              <a:ln w="15494">
                <a:solidFill>
                  <a:srgbClr val="55555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Connector: Elbow 132">
                <a:extLst>
                  <a:ext uri="{FF2B5EF4-FFF2-40B4-BE49-F238E27FC236}">
                    <a16:creationId xmlns:a16="http://schemas.microsoft.com/office/drawing/2014/main" id="{BA43AB32-21E5-20CA-9299-DD0F788FC848}"/>
                  </a:ext>
                </a:extLst>
              </p:cNvPr>
              <p:cNvCxnSpPr>
                <a:stCxn id="51" idx="2"/>
                <a:endCxn id="61" idx="0"/>
              </p:cNvCxnSpPr>
              <p:nvPr/>
            </p:nvCxnSpPr>
            <p:spPr>
              <a:xfrm rot="16200000" flipH="1">
                <a:off x="5064572" y="5274537"/>
                <a:ext cx="367358" cy="726642"/>
              </a:xfrm>
              <a:prstGeom prst="bentConnector3">
                <a:avLst>
                  <a:gd name="adj1" fmla="val 47711"/>
                </a:avLst>
              </a:prstGeom>
              <a:ln w="15494">
                <a:solidFill>
                  <a:srgbClr val="55555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F028289E-6893-0495-60D3-FDD56C9476F8}"/>
                </a:ext>
              </a:extLst>
            </p:cNvPr>
            <p:cNvGrpSpPr/>
            <p:nvPr/>
          </p:nvGrpSpPr>
          <p:grpSpPr>
            <a:xfrm>
              <a:off x="1090244" y="2286000"/>
              <a:ext cx="7392195" cy="2927118"/>
              <a:chOff x="1090244" y="2286000"/>
              <a:chExt cx="7392195" cy="292711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60ECF67-A6FA-55E8-739C-CEE08400FAA0}"/>
                  </a:ext>
                </a:extLst>
              </p:cNvPr>
              <p:cNvGrpSpPr/>
              <p:nvPr/>
            </p:nvGrpSpPr>
            <p:grpSpPr>
              <a:xfrm>
                <a:off x="1090244" y="2286000"/>
                <a:ext cx="1463040" cy="1097280"/>
                <a:chOff x="1090244" y="2297659"/>
                <a:chExt cx="1463040" cy="1097280"/>
              </a:xfrm>
            </p:grpSpPr>
            <p:sp>
              <p:nvSpPr>
                <p:cNvPr id="20" name="Shape 18">
                  <a:extLst>
                    <a:ext uri="{FF2B5EF4-FFF2-40B4-BE49-F238E27FC236}">
                      <a16:creationId xmlns:a16="http://schemas.microsoft.com/office/drawing/2014/main" id="{70C93977-1DF7-B70A-AAA5-AAE1BB5C47A8}"/>
                    </a:ext>
                  </a:extLst>
                </p:cNvPr>
                <p:cNvSpPr/>
                <p:nvPr/>
              </p:nvSpPr>
              <p:spPr>
                <a:xfrm>
                  <a:off x="1090244" y="2297659"/>
                  <a:ext cx="1463040" cy="1097280"/>
                </a:xfrm>
                <a:prstGeom prst="roundRect">
                  <a:avLst>
                    <a:gd name="adj" fmla="val 4706"/>
                  </a:avLst>
                </a:prstGeom>
                <a:solidFill>
                  <a:srgbClr val="E8F5E9"/>
                </a:solidFill>
                <a:ln w="16510">
                  <a:solidFill>
                    <a:srgbClr val="388E3C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 dirty="0"/>
                </a:p>
              </p:txBody>
            </p:sp>
            <p:sp>
              <p:nvSpPr>
                <p:cNvPr id="21" name="Text 19">
                  <a:extLst>
                    <a:ext uri="{FF2B5EF4-FFF2-40B4-BE49-F238E27FC236}">
                      <a16:creationId xmlns:a16="http://schemas.microsoft.com/office/drawing/2014/main" id="{D4755B30-4933-05E5-19C1-4F97E090D2DF}"/>
                    </a:ext>
                  </a:extLst>
                </p:cNvPr>
                <p:cNvSpPr/>
                <p:nvPr/>
              </p:nvSpPr>
              <p:spPr>
                <a:xfrm>
                  <a:off x="1145979" y="2365093"/>
                  <a:ext cx="1351570" cy="21410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Technical Signal Pipeline</a:t>
                  </a:r>
                  <a:endParaRPr lang="en-US" sz="706" dirty="0"/>
                </a:p>
              </p:txBody>
            </p:sp>
            <p:sp>
              <p:nvSpPr>
                <p:cNvPr id="22" name="Shape 20">
                  <a:extLst>
                    <a:ext uri="{FF2B5EF4-FFF2-40B4-BE49-F238E27FC236}">
                      <a16:creationId xmlns:a16="http://schemas.microsoft.com/office/drawing/2014/main" id="{2FF6F42F-BC5A-B721-FB87-A25952EE8B73}"/>
                    </a:ext>
                  </a:extLst>
                </p:cNvPr>
                <p:cNvSpPr/>
                <p:nvPr/>
              </p:nvSpPr>
              <p:spPr>
                <a:xfrm>
                  <a:off x="1194747" y="2540508"/>
                  <a:ext cx="1254034" cy="19983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FFF"/>
                </a:solidFill>
                <a:ln w="10160">
                  <a:solidFill>
                    <a:srgbClr val="66BB6A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23" name="Text 21">
                  <a:extLst>
                    <a:ext uri="{FF2B5EF4-FFF2-40B4-BE49-F238E27FC236}">
                      <a16:creationId xmlns:a16="http://schemas.microsoft.com/office/drawing/2014/main" id="{9528A939-324D-0790-DF0C-2E12353D3A31}"/>
                    </a:ext>
                  </a:extLst>
                </p:cNvPr>
                <p:cNvSpPr/>
                <p:nvPr/>
              </p:nvSpPr>
              <p:spPr>
                <a:xfrm>
                  <a:off x="1229581" y="2540508"/>
                  <a:ext cx="1184366" cy="19983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SMA-20/50 Crossover</a:t>
                  </a:r>
                  <a:endParaRPr lang="en-US" sz="618" dirty="0"/>
                </a:p>
              </p:txBody>
            </p:sp>
            <p:sp>
              <p:nvSpPr>
                <p:cNvPr id="25" name="Shape 23">
                  <a:extLst>
                    <a:ext uri="{FF2B5EF4-FFF2-40B4-BE49-F238E27FC236}">
                      <a16:creationId xmlns:a16="http://schemas.microsoft.com/office/drawing/2014/main" id="{5943703E-B615-68AC-07C9-4E6E6DECB977}"/>
                    </a:ext>
                  </a:extLst>
                </p:cNvPr>
                <p:cNvSpPr/>
                <p:nvPr/>
              </p:nvSpPr>
              <p:spPr>
                <a:xfrm>
                  <a:off x="1194747" y="2792655"/>
                  <a:ext cx="1254034" cy="19983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FFF"/>
                </a:solidFill>
                <a:ln w="10160">
                  <a:solidFill>
                    <a:srgbClr val="66BB6A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26" name="Text 24">
                  <a:extLst>
                    <a:ext uri="{FF2B5EF4-FFF2-40B4-BE49-F238E27FC236}">
                      <a16:creationId xmlns:a16="http://schemas.microsoft.com/office/drawing/2014/main" id="{8B546256-30BC-7D5F-705F-48ACA0500227}"/>
                    </a:ext>
                  </a:extLst>
                </p:cNvPr>
                <p:cNvSpPr/>
                <p:nvPr/>
              </p:nvSpPr>
              <p:spPr>
                <a:xfrm>
                  <a:off x="1229581" y="2792655"/>
                  <a:ext cx="1184366" cy="19983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ATV Slope Confirmation</a:t>
                  </a:r>
                  <a:endParaRPr lang="en-US" sz="618" dirty="0"/>
                </a:p>
              </p:txBody>
            </p:sp>
            <p:sp>
              <p:nvSpPr>
                <p:cNvPr id="28" name="Shape 26">
                  <a:extLst>
                    <a:ext uri="{FF2B5EF4-FFF2-40B4-BE49-F238E27FC236}">
                      <a16:creationId xmlns:a16="http://schemas.microsoft.com/office/drawing/2014/main" id="{355F9A64-A5AC-65E9-89AE-0A7EE325AE66}"/>
                    </a:ext>
                  </a:extLst>
                </p:cNvPr>
                <p:cNvSpPr/>
                <p:nvPr/>
              </p:nvSpPr>
              <p:spPr>
                <a:xfrm>
                  <a:off x="1194747" y="3063853"/>
                  <a:ext cx="1254034" cy="19983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FFF"/>
                </a:solidFill>
                <a:ln w="10160">
                  <a:solidFill>
                    <a:srgbClr val="66BB6A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29" name="Text 27">
                  <a:extLst>
                    <a:ext uri="{FF2B5EF4-FFF2-40B4-BE49-F238E27FC236}">
                      <a16:creationId xmlns:a16="http://schemas.microsoft.com/office/drawing/2014/main" id="{87C0814F-D73D-0C07-D398-88C5D7CA41F2}"/>
                    </a:ext>
                  </a:extLst>
                </p:cNvPr>
                <p:cNvSpPr/>
                <p:nvPr/>
              </p:nvSpPr>
              <p:spPr>
                <a:xfrm>
                  <a:off x="1229581" y="3063853"/>
                  <a:ext cx="1184366" cy="19983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RSI Gate</a:t>
                  </a:r>
                  <a:endParaRPr lang="en-US" sz="618" dirty="0"/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DE3FD96D-E60E-11B4-CEF9-1ECD4F06A5DF}"/>
                  </a:ext>
                </a:extLst>
              </p:cNvPr>
              <p:cNvGrpSpPr/>
              <p:nvPr/>
            </p:nvGrpSpPr>
            <p:grpSpPr>
              <a:xfrm>
                <a:off x="4395620" y="2286000"/>
                <a:ext cx="1280160" cy="1097280"/>
                <a:chOff x="5532437" y="2147698"/>
                <a:chExt cx="1920240" cy="1234440"/>
              </a:xfrm>
            </p:grpSpPr>
            <p:sp>
              <p:nvSpPr>
                <p:cNvPr id="32" name="Shape 30">
                  <a:extLst>
                    <a:ext uri="{FF2B5EF4-FFF2-40B4-BE49-F238E27FC236}">
                      <a16:creationId xmlns:a16="http://schemas.microsoft.com/office/drawing/2014/main" id="{BE6F8A93-41BE-0907-FD6A-D7525207FA3B}"/>
                    </a:ext>
                  </a:extLst>
                </p:cNvPr>
                <p:cNvSpPr/>
                <p:nvPr/>
              </p:nvSpPr>
              <p:spPr>
                <a:xfrm>
                  <a:off x="5532437" y="2147698"/>
                  <a:ext cx="1920240" cy="1234440"/>
                </a:xfrm>
                <a:prstGeom prst="roundRect">
                  <a:avLst>
                    <a:gd name="adj" fmla="val 5926"/>
                  </a:avLst>
                </a:prstGeom>
                <a:solidFill>
                  <a:srgbClr val="E8F5E9"/>
                </a:solidFill>
                <a:ln w="16510">
                  <a:solidFill>
                    <a:srgbClr val="388E3C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 dirty="0"/>
                </a:p>
              </p:txBody>
            </p:sp>
            <p:sp>
              <p:nvSpPr>
                <p:cNvPr id="33" name="Text 31">
                  <a:extLst>
                    <a:ext uri="{FF2B5EF4-FFF2-40B4-BE49-F238E27FC236}">
                      <a16:creationId xmlns:a16="http://schemas.microsoft.com/office/drawing/2014/main" id="{47F32662-E7C7-04A3-27B4-5C0EA9F9DDC1}"/>
                    </a:ext>
                  </a:extLst>
                </p:cNvPr>
                <p:cNvSpPr/>
                <p:nvPr/>
              </p:nvSpPr>
              <p:spPr>
                <a:xfrm>
                  <a:off x="5605589" y="2261998"/>
                  <a:ext cx="1773936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Fundamental Scoring</a:t>
                  </a:r>
                  <a:endParaRPr lang="en-US" sz="706" dirty="0"/>
                </a:p>
              </p:txBody>
            </p:sp>
            <p:sp>
              <p:nvSpPr>
                <p:cNvPr id="34" name="Shape 32">
                  <a:extLst>
                    <a:ext uri="{FF2B5EF4-FFF2-40B4-BE49-F238E27FC236}">
                      <a16:creationId xmlns:a16="http://schemas.microsoft.com/office/drawing/2014/main" id="{581450B1-1F4C-9862-D784-8BDC1FA23E59}"/>
                    </a:ext>
                  </a:extLst>
                </p:cNvPr>
                <p:cNvSpPr/>
                <p:nvPr/>
              </p:nvSpPr>
              <p:spPr>
                <a:xfrm>
                  <a:off x="5715317" y="2604898"/>
                  <a:ext cx="1554480" cy="502920"/>
                </a:xfrm>
                <a:prstGeom prst="roundRect">
                  <a:avLst>
                    <a:gd name="adj" fmla="val 7273"/>
                  </a:avLst>
                </a:prstGeom>
                <a:solidFill>
                  <a:srgbClr val="FFFFFF"/>
                </a:solidFill>
                <a:ln w="10160">
                  <a:solidFill>
                    <a:srgbClr val="66BB6A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35" name="Text 33">
                  <a:extLst>
                    <a:ext uri="{FF2B5EF4-FFF2-40B4-BE49-F238E27FC236}">
                      <a16:creationId xmlns:a16="http://schemas.microsoft.com/office/drawing/2014/main" id="{3CB9A245-C724-D2F0-25BF-DD97D669D01D}"/>
                    </a:ext>
                  </a:extLst>
                </p:cNvPr>
                <p:cNvSpPr/>
                <p:nvPr/>
              </p:nvSpPr>
              <p:spPr>
                <a:xfrm>
                  <a:off x="5761037" y="2604898"/>
                  <a:ext cx="1463040" cy="5029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Piotroski F-Score</a:t>
                  </a:r>
                  <a:endParaRPr lang="en-US" sz="618" dirty="0"/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(9-point, 3 categories)</a:t>
                  </a:r>
                  <a:endParaRPr lang="en-US" sz="618" dirty="0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78E989AD-E8F6-950B-DBF7-1F577D33412C}"/>
                  </a:ext>
                </a:extLst>
              </p:cNvPr>
              <p:cNvGrpSpPr/>
              <p:nvPr/>
            </p:nvGrpSpPr>
            <p:grpSpPr>
              <a:xfrm>
                <a:off x="7202279" y="2286000"/>
                <a:ext cx="1280160" cy="1097280"/>
                <a:chOff x="7544117" y="2147698"/>
                <a:chExt cx="1920240" cy="1234440"/>
              </a:xfrm>
            </p:grpSpPr>
            <p:sp>
              <p:nvSpPr>
                <p:cNvPr id="36" name="Shape 34">
                  <a:extLst>
                    <a:ext uri="{FF2B5EF4-FFF2-40B4-BE49-F238E27FC236}">
                      <a16:creationId xmlns:a16="http://schemas.microsoft.com/office/drawing/2014/main" id="{0DBCCFA2-8116-20BD-B522-E03A156EF5EF}"/>
                    </a:ext>
                  </a:extLst>
                </p:cNvPr>
                <p:cNvSpPr/>
                <p:nvPr/>
              </p:nvSpPr>
              <p:spPr>
                <a:xfrm>
                  <a:off x="7544117" y="2147698"/>
                  <a:ext cx="1920240" cy="1234440"/>
                </a:xfrm>
                <a:prstGeom prst="roundRect">
                  <a:avLst>
                    <a:gd name="adj" fmla="val 5926"/>
                  </a:avLst>
                </a:prstGeom>
                <a:solidFill>
                  <a:srgbClr val="E8F5E9"/>
                </a:solidFill>
                <a:ln w="16510">
                  <a:solidFill>
                    <a:srgbClr val="388E3C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37" name="Text 35">
                  <a:extLst>
                    <a:ext uri="{FF2B5EF4-FFF2-40B4-BE49-F238E27FC236}">
                      <a16:creationId xmlns:a16="http://schemas.microsoft.com/office/drawing/2014/main" id="{66722A6B-A48F-FB74-CEDF-BC36BF21B24C}"/>
                    </a:ext>
                  </a:extLst>
                </p:cNvPr>
                <p:cNvSpPr/>
                <p:nvPr/>
              </p:nvSpPr>
              <p:spPr>
                <a:xfrm>
                  <a:off x="7617269" y="2233423"/>
                  <a:ext cx="1773936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News Sentiment</a:t>
                  </a:r>
                  <a:endParaRPr lang="en-US" sz="706" dirty="0"/>
                </a:p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Classification</a:t>
                  </a:r>
                  <a:endParaRPr lang="en-US" sz="706" dirty="0"/>
                </a:p>
              </p:txBody>
            </p:sp>
            <p:sp>
              <p:nvSpPr>
                <p:cNvPr id="38" name="Shape 36">
                  <a:extLst>
                    <a:ext uri="{FF2B5EF4-FFF2-40B4-BE49-F238E27FC236}">
                      <a16:creationId xmlns:a16="http://schemas.microsoft.com/office/drawing/2014/main" id="{476C8AFF-34E7-8266-736E-12E68D7A10EA}"/>
                    </a:ext>
                  </a:extLst>
                </p:cNvPr>
                <p:cNvSpPr/>
                <p:nvPr/>
              </p:nvSpPr>
              <p:spPr>
                <a:xfrm>
                  <a:off x="7726997" y="2601086"/>
                  <a:ext cx="1554480" cy="502920"/>
                </a:xfrm>
                <a:prstGeom prst="roundRect">
                  <a:avLst>
                    <a:gd name="adj" fmla="val 7273"/>
                  </a:avLst>
                </a:prstGeom>
                <a:solidFill>
                  <a:srgbClr val="FFFFFF"/>
                </a:solidFill>
                <a:ln w="10160">
                  <a:solidFill>
                    <a:srgbClr val="66BB6A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39" name="Text 37">
                  <a:extLst>
                    <a:ext uri="{FF2B5EF4-FFF2-40B4-BE49-F238E27FC236}">
                      <a16:creationId xmlns:a16="http://schemas.microsoft.com/office/drawing/2014/main" id="{97758B39-24D5-4338-0A45-75C02B0B7183}"/>
                    </a:ext>
                  </a:extLst>
                </p:cNvPr>
                <p:cNvSpPr/>
                <p:nvPr/>
              </p:nvSpPr>
              <p:spPr>
                <a:xfrm>
                  <a:off x="7867968" y="2601086"/>
                  <a:ext cx="1272540" cy="5029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Keyword-based sentiment analysis</a:t>
                  </a:r>
                  <a:endParaRPr lang="en-US" sz="618" dirty="0"/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D010F2A5-9083-265B-24C9-BD9088FFD39E}"/>
                  </a:ext>
                </a:extLst>
              </p:cNvPr>
              <p:cNvGrpSpPr/>
              <p:nvPr/>
            </p:nvGrpSpPr>
            <p:grpSpPr>
              <a:xfrm>
                <a:off x="1729123" y="3660225"/>
                <a:ext cx="1828800" cy="621011"/>
                <a:chOff x="3703637" y="4209671"/>
                <a:chExt cx="3657600" cy="703327"/>
              </a:xfrm>
            </p:grpSpPr>
            <p:sp>
              <p:nvSpPr>
                <p:cNvPr id="47" name="Shape 45">
                  <a:extLst>
                    <a:ext uri="{FF2B5EF4-FFF2-40B4-BE49-F238E27FC236}">
                      <a16:creationId xmlns:a16="http://schemas.microsoft.com/office/drawing/2014/main" id="{25876049-8F70-ADA1-E428-A6CACD9E257D}"/>
                    </a:ext>
                  </a:extLst>
                </p:cNvPr>
                <p:cNvSpPr/>
                <p:nvPr/>
              </p:nvSpPr>
              <p:spPr>
                <a:xfrm>
                  <a:off x="3703637" y="4209671"/>
                  <a:ext cx="3657600" cy="703327"/>
                </a:xfrm>
                <a:prstGeom prst="roundRect">
                  <a:avLst>
                    <a:gd name="adj" fmla="val 12308"/>
                  </a:avLst>
                </a:prstGeom>
                <a:solidFill>
                  <a:srgbClr val="C8E6C9"/>
                </a:solidFill>
                <a:ln w="16510">
                  <a:solidFill>
                    <a:srgbClr val="2E7D32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48" name="Text 46">
                  <a:extLst>
                    <a:ext uri="{FF2B5EF4-FFF2-40B4-BE49-F238E27FC236}">
                      <a16:creationId xmlns:a16="http://schemas.microsoft.com/office/drawing/2014/main" id="{F89767C7-439C-169D-3226-1D95251C8527}"/>
                    </a:ext>
                  </a:extLst>
                </p:cNvPr>
                <p:cNvSpPr/>
                <p:nvPr/>
              </p:nvSpPr>
              <p:spPr>
                <a:xfrm>
                  <a:off x="3776789" y="4300349"/>
                  <a:ext cx="3511296" cy="55778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>
                    <a:spcAft>
                      <a:spcPts val="530"/>
                    </a:spcAft>
                  </a:pPr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Trading Signal &amp; Confidence Score</a:t>
                  </a:r>
                </a:p>
                <a:p>
                  <a:pPr algn="ctr">
                    <a:spcAft>
                      <a:spcPts val="530"/>
                    </a:spcAft>
                  </a:pPr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cs typeface="Arial" pitchFamily="34" charset="-120"/>
                    </a:rPr>
                    <a:t>Final Buy/ Sell/Hold with confidence %</a:t>
                  </a:r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76DD6A2A-AF9A-ED04-B0CA-ADCF2981F763}"/>
                  </a:ext>
                </a:extLst>
              </p:cNvPr>
              <p:cNvGrpSpPr/>
              <p:nvPr/>
            </p:nvGrpSpPr>
            <p:grpSpPr>
              <a:xfrm>
                <a:off x="2735615" y="2286000"/>
                <a:ext cx="1463040" cy="1097280"/>
                <a:chOff x="3383597" y="2147698"/>
                <a:chExt cx="1920240" cy="1234440"/>
              </a:xfrm>
            </p:grpSpPr>
            <p:sp>
              <p:nvSpPr>
                <p:cNvPr id="30" name="Shape 28">
                  <a:extLst>
                    <a:ext uri="{FF2B5EF4-FFF2-40B4-BE49-F238E27FC236}">
                      <a16:creationId xmlns:a16="http://schemas.microsoft.com/office/drawing/2014/main" id="{477EF251-9C6C-FF64-7C06-93E50DBCCAD7}"/>
                    </a:ext>
                  </a:extLst>
                </p:cNvPr>
                <p:cNvSpPr/>
                <p:nvPr/>
              </p:nvSpPr>
              <p:spPr>
                <a:xfrm>
                  <a:off x="3383597" y="2147698"/>
                  <a:ext cx="1920240" cy="1234440"/>
                </a:xfrm>
                <a:prstGeom prst="roundRect">
                  <a:avLst>
                    <a:gd name="adj" fmla="val 5926"/>
                  </a:avLst>
                </a:prstGeom>
                <a:solidFill>
                  <a:srgbClr val="E8F5E9"/>
                </a:solidFill>
                <a:ln w="16510">
                  <a:solidFill>
                    <a:srgbClr val="388E3C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31" name="Text 29">
                  <a:extLst>
                    <a:ext uri="{FF2B5EF4-FFF2-40B4-BE49-F238E27FC236}">
                      <a16:creationId xmlns:a16="http://schemas.microsoft.com/office/drawing/2014/main" id="{1CB2061C-C500-3C23-4978-BA691B265657}"/>
                    </a:ext>
                  </a:extLst>
                </p:cNvPr>
                <p:cNvSpPr/>
                <p:nvPr/>
              </p:nvSpPr>
              <p:spPr>
                <a:xfrm>
                  <a:off x="3411029" y="2237989"/>
                  <a:ext cx="1773936" cy="2819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PPO Reinforcement</a:t>
                  </a:r>
                  <a:endParaRPr lang="en-US" sz="706" dirty="0"/>
                </a:p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Learning Agent</a:t>
                  </a:r>
                </a:p>
              </p:txBody>
            </p:sp>
            <p:sp>
              <p:nvSpPr>
                <p:cNvPr id="76" name="Shape 32">
                  <a:extLst>
                    <a:ext uri="{FF2B5EF4-FFF2-40B4-BE49-F238E27FC236}">
                      <a16:creationId xmlns:a16="http://schemas.microsoft.com/office/drawing/2014/main" id="{108569A5-1709-95D2-AC5C-EF97535CEEF8}"/>
                    </a:ext>
                  </a:extLst>
                </p:cNvPr>
                <p:cNvSpPr/>
                <p:nvPr/>
              </p:nvSpPr>
              <p:spPr>
                <a:xfrm>
                  <a:off x="3535806" y="2599183"/>
                  <a:ext cx="1686954" cy="502920"/>
                </a:xfrm>
                <a:prstGeom prst="roundRect">
                  <a:avLst>
                    <a:gd name="adj" fmla="val 7273"/>
                  </a:avLst>
                </a:prstGeom>
                <a:solidFill>
                  <a:srgbClr val="FFFFFF"/>
                </a:solidFill>
                <a:ln w="10160">
                  <a:solidFill>
                    <a:srgbClr val="66BB6A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sz="706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State: 6-dim</a:t>
                  </a:r>
                  <a:endParaRPr lang="en-US" sz="1589" dirty="0"/>
                </a:p>
                <a:p>
                  <a:pPr algn="ctr"/>
                  <a:r>
                    <a:rPr lang="en-US" sz="706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Actions: 3 (Buy, Hold, Sell)</a:t>
                  </a:r>
                  <a:endParaRPr lang="en-US" sz="1589" dirty="0"/>
                </a:p>
                <a:p>
                  <a:pPr algn="ctr"/>
                  <a:r>
                    <a:rPr lang="en-US" sz="706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Reward: volume-adjusted</a:t>
                  </a:r>
                  <a:endParaRPr lang="en-US" sz="1589" dirty="0"/>
                </a:p>
                <a:p>
                  <a:pPr algn="ctr"/>
                  <a:endParaRPr lang="en-GB" sz="1589" dirty="0"/>
                </a:p>
              </p:txBody>
            </p:sp>
          </p:grpSp>
          <p:cxnSp>
            <p:nvCxnSpPr>
              <p:cNvPr id="105" name="Connector: Elbow 104">
                <a:extLst>
                  <a:ext uri="{FF2B5EF4-FFF2-40B4-BE49-F238E27FC236}">
                    <a16:creationId xmlns:a16="http://schemas.microsoft.com/office/drawing/2014/main" id="{5FBB1DB5-FF12-32F4-EDBE-772BD4FE81D7}"/>
                  </a:ext>
                </a:extLst>
              </p:cNvPr>
              <p:cNvCxnSpPr>
                <a:cxnSpLocks/>
                <a:stCxn id="20" idx="2"/>
                <a:endCxn id="47" idx="0"/>
              </p:cNvCxnSpPr>
              <p:nvPr/>
            </p:nvCxnSpPr>
            <p:spPr>
              <a:xfrm rot="16200000" flipH="1">
                <a:off x="2094171" y="3110872"/>
                <a:ext cx="276945" cy="821759"/>
              </a:xfrm>
              <a:prstGeom prst="bentConnector3">
                <a:avLst/>
              </a:prstGeom>
              <a:ln w="15240">
                <a:solidFill>
                  <a:srgbClr val="55555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nector: Elbow 106">
                <a:extLst>
                  <a:ext uri="{FF2B5EF4-FFF2-40B4-BE49-F238E27FC236}">
                    <a16:creationId xmlns:a16="http://schemas.microsoft.com/office/drawing/2014/main" id="{3463CE06-D0E3-F28B-C9B2-5823E45CBC7E}"/>
                  </a:ext>
                </a:extLst>
              </p:cNvPr>
              <p:cNvCxnSpPr>
                <a:cxnSpLocks/>
                <a:stCxn id="30" idx="2"/>
                <a:endCxn id="47" idx="0"/>
              </p:cNvCxnSpPr>
              <p:nvPr/>
            </p:nvCxnSpPr>
            <p:spPr>
              <a:xfrm rot="5400000">
                <a:off x="2916857" y="3109946"/>
                <a:ext cx="276945" cy="823612"/>
              </a:xfrm>
              <a:prstGeom prst="bentConnector3">
                <a:avLst>
                  <a:gd name="adj1" fmla="val 50000"/>
                </a:avLst>
              </a:prstGeom>
              <a:ln w="15240">
                <a:solidFill>
                  <a:srgbClr val="55555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BDF8422A-5028-9E2B-F604-C0CF67A8B69F}"/>
                  </a:ext>
                </a:extLst>
              </p:cNvPr>
              <p:cNvCxnSpPr>
                <a:cxnSpLocks/>
                <a:stCxn id="47" idx="2"/>
                <a:endCxn id="41" idx="0"/>
              </p:cNvCxnSpPr>
              <p:nvPr/>
            </p:nvCxnSpPr>
            <p:spPr>
              <a:xfrm rot="16200000" flipH="1">
                <a:off x="3681588" y="3243171"/>
                <a:ext cx="310871" cy="2387000"/>
              </a:xfrm>
              <a:prstGeom prst="bentConnector3">
                <a:avLst>
                  <a:gd name="adj1" fmla="val 50000"/>
                </a:avLst>
              </a:prstGeom>
              <a:ln w="15240">
                <a:solidFill>
                  <a:srgbClr val="55555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92E51B0-1D36-3C41-7DEE-67EDD84808EA}"/>
                  </a:ext>
                </a:extLst>
              </p:cNvPr>
              <p:cNvGrpSpPr/>
              <p:nvPr/>
            </p:nvGrpSpPr>
            <p:grpSpPr>
              <a:xfrm>
                <a:off x="5800199" y="2286000"/>
                <a:ext cx="1280160" cy="1097280"/>
                <a:chOff x="7544117" y="2147698"/>
                <a:chExt cx="1920240" cy="1234440"/>
              </a:xfrm>
            </p:grpSpPr>
            <p:sp>
              <p:nvSpPr>
                <p:cNvPr id="16" name="Shape 34">
                  <a:extLst>
                    <a:ext uri="{FF2B5EF4-FFF2-40B4-BE49-F238E27FC236}">
                      <a16:creationId xmlns:a16="http://schemas.microsoft.com/office/drawing/2014/main" id="{89BCA38A-8FC1-7B6C-20DD-96370FF5F88B}"/>
                    </a:ext>
                  </a:extLst>
                </p:cNvPr>
                <p:cNvSpPr/>
                <p:nvPr/>
              </p:nvSpPr>
              <p:spPr>
                <a:xfrm>
                  <a:off x="7544117" y="2147698"/>
                  <a:ext cx="1920240" cy="1234440"/>
                </a:xfrm>
                <a:prstGeom prst="roundRect">
                  <a:avLst>
                    <a:gd name="adj" fmla="val 5926"/>
                  </a:avLst>
                </a:prstGeom>
                <a:solidFill>
                  <a:srgbClr val="E8F5E9"/>
                </a:solidFill>
                <a:ln w="16510">
                  <a:solidFill>
                    <a:srgbClr val="388E3C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 dirty="0"/>
                </a:p>
              </p:txBody>
            </p:sp>
            <p:sp>
              <p:nvSpPr>
                <p:cNvPr id="17" name="Text 35">
                  <a:extLst>
                    <a:ext uri="{FF2B5EF4-FFF2-40B4-BE49-F238E27FC236}">
                      <a16:creationId xmlns:a16="http://schemas.microsoft.com/office/drawing/2014/main" id="{8301C278-FEAC-D273-AB8B-E0F3335140D2}"/>
                    </a:ext>
                  </a:extLst>
                </p:cNvPr>
                <p:cNvSpPr/>
                <p:nvPr/>
              </p:nvSpPr>
              <p:spPr>
                <a:xfrm>
                  <a:off x="7617269" y="2233423"/>
                  <a:ext cx="1773936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algn="ctr"/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Market Regime Detection</a:t>
                  </a:r>
                  <a:endParaRPr lang="en-US" sz="706" dirty="0"/>
                </a:p>
              </p:txBody>
            </p:sp>
            <p:sp>
              <p:nvSpPr>
                <p:cNvPr id="24" name="Shape 36">
                  <a:extLst>
                    <a:ext uri="{FF2B5EF4-FFF2-40B4-BE49-F238E27FC236}">
                      <a16:creationId xmlns:a16="http://schemas.microsoft.com/office/drawing/2014/main" id="{477FB3ED-C80B-ABE9-4F30-957D2458C754}"/>
                    </a:ext>
                  </a:extLst>
                </p:cNvPr>
                <p:cNvSpPr/>
                <p:nvPr/>
              </p:nvSpPr>
              <p:spPr>
                <a:xfrm>
                  <a:off x="7726997" y="2601086"/>
                  <a:ext cx="1554480" cy="502920"/>
                </a:xfrm>
                <a:prstGeom prst="roundRect">
                  <a:avLst>
                    <a:gd name="adj" fmla="val 7273"/>
                  </a:avLst>
                </a:prstGeom>
                <a:solidFill>
                  <a:srgbClr val="FFFFFF"/>
                </a:solidFill>
                <a:ln w="10160">
                  <a:solidFill>
                    <a:srgbClr val="66BB6A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27" name="Text 37">
                  <a:extLst>
                    <a:ext uri="{FF2B5EF4-FFF2-40B4-BE49-F238E27FC236}">
                      <a16:creationId xmlns:a16="http://schemas.microsoft.com/office/drawing/2014/main" id="{CF45E25B-668D-64CA-F56F-BDDA2D5011E0}"/>
                    </a:ext>
                  </a:extLst>
                </p:cNvPr>
                <p:cNvSpPr/>
                <p:nvPr/>
              </p:nvSpPr>
              <p:spPr>
                <a:xfrm>
                  <a:off x="7764503" y="2601706"/>
                  <a:ext cx="1413509" cy="5029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S&amp;P 500 SMA crossover</a:t>
                  </a:r>
                </a:p>
                <a:p>
                  <a:pPr algn="ctr"/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  VIX threshold</a:t>
                  </a:r>
                  <a:endParaRPr lang="en-US" sz="618" dirty="0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55CF4DAB-5142-E514-FCF8-E65584C084E7}"/>
                  </a:ext>
                </a:extLst>
              </p:cNvPr>
              <p:cNvGrpSpPr/>
              <p:nvPr/>
            </p:nvGrpSpPr>
            <p:grpSpPr>
              <a:xfrm>
                <a:off x="4116123" y="4592107"/>
                <a:ext cx="1828800" cy="621011"/>
                <a:chOff x="3703637" y="4209671"/>
                <a:chExt cx="3657600" cy="703327"/>
              </a:xfrm>
            </p:grpSpPr>
            <p:sp>
              <p:nvSpPr>
                <p:cNvPr id="41" name="Shape 45">
                  <a:extLst>
                    <a:ext uri="{FF2B5EF4-FFF2-40B4-BE49-F238E27FC236}">
                      <a16:creationId xmlns:a16="http://schemas.microsoft.com/office/drawing/2014/main" id="{033D06C0-5DDF-EC64-BD12-2901DCE8C517}"/>
                    </a:ext>
                  </a:extLst>
                </p:cNvPr>
                <p:cNvSpPr/>
                <p:nvPr/>
              </p:nvSpPr>
              <p:spPr>
                <a:xfrm>
                  <a:off x="3703637" y="4209671"/>
                  <a:ext cx="3657600" cy="703327"/>
                </a:xfrm>
                <a:prstGeom prst="roundRect">
                  <a:avLst>
                    <a:gd name="adj" fmla="val 12308"/>
                  </a:avLst>
                </a:prstGeom>
                <a:solidFill>
                  <a:srgbClr val="C8E6C9"/>
                </a:solidFill>
                <a:ln w="16510">
                  <a:solidFill>
                    <a:srgbClr val="2E7D32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lang="en-GB" sz="1589"/>
                </a:p>
              </p:txBody>
            </p:sp>
            <p:sp>
              <p:nvSpPr>
                <p:cNvPr id="42" name="Text 46">
                  <a:extLst>
                    <a:ext uri="{FF2B5EF4-FFF2-40B4-BE49-F238E27FC236}">
                      <a16:creationId xmlns:a16="http://schemas.microsoft.com/office/drawing/2014/main" id="{44E79FCF-FB24-08C2-73C4-FC069E89B965}"/>
                    </a:ext>
                  </a:extLst>
                </p:cNvPr>
                <p:cNvSpPr/>
                <p:nvPr/>
              </p:nvSpPr>
              <p:spPr>
                <a:xfrm>
                  <a:off x="3776789" y="4300349"/>
                  <a:ext cx="3511296" cy="55778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>
                    <a:spcAft>
                      <a:spcPts val="530"/>
                    </a:spcAft>
                  </a:pPr>
                  <a:r>
                    <a:rPr lang="en-US" sz="706" b="1" dirty="0">
                      <a:solidFill>
                        <a:srgbClr val="1A1A1A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Plain-Language Interpretation Layer</a:t>
                  </a:r>
                </a:p>
                <a:p>
                  <a:pPr algn="ctr">
                    <a:spcAft>
                      <a:spcPts val="530"/>
                    </a:spcAft>
                  </a:pPr>
                  <a:r>
                    <a:rPr lang="en-US" sz="618" dirty="0">
                      <a:solidFill>
                        <a:srgbClr val="555555"/>
                      </a:solidFill>
                      <a:latin typeface="Arial" pitchFamily="34" charset="0"/>
                      <a:cs typeface="Arial" pitchFamily="34" charset="-120"/>
                    </a:rPr>
                    <a:t>Translates scores, signals &amp; regime into simple, actionable explanations </a:t>
                  </a:r>
                </a:p>
              </p:txBody>
            </p:sp>
          </p:grpSp>
          <p:cxnSp>
            <p:nvCxnSpPr>
              <p:cNvPr id="53" name="Connector: Elbow 52">
                <a:extLst>
                  <a:ext uri="{FF2B5EF4-FFF2-40B4-BE49-F238E27FC236}">
                    <a16:creationId xmlns:a16="http://schemas.microsoft.com/office/drawing/2014/main" id="{0D7A74A1-488C-82FB-BB50-D5928FEFD609}"/>
                  </a:ext>
                </a:extLst>
              </p:cNvPr>
              <p:cNvCxnSpPr>
                <a:stCxn id="32" idx="2"/>
                <a:endCxn id="41" idx="0"/>
              </p:cNvCxnSpPr>
              <p:nvPr/>
            </p:nvCxnSpPr>
            <p:spPr>
              <a:xfrm flipH="1">
                <a:off x="5030523" y="3383280"/>
                <a:ext cx="5177" cy="1208827"/>
              </a:xfrm>
              <a:prstGeom prst="straightConnector1">
                <a:avLst/>
              </a:prstGeom>
              <a:ln w="15240">
                <a:solidFill>
                  <a:srgbClr val="55555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nector: Elbow 65">
                <a:extLst>
                  <a:ext uri="{FF2B5EF4-FFF2-40B4-BE49-F238E27FC236}">
                    <a16:creationId xmlns:a16="http://schemas.microsoft.com/office/drawing/2014/main" id="{BE7178D8-8C8F-4E5C-6A63-DEEB4A8BFC1E}"/>
                  </a:ext>
                </a:extLst>
              </p:cNvPr>
              <p:cNvCxnSpPr>
                <a:stCxn id="16" idx="2"/>
                <a:endCxn id="41" idx="0"/>
              </p:cNvCxnSpPr>
              <p:nvPr/>
            </p:nvCxnSpPr>
            <p:spPr>
              <a:xfrm rot="5400000">
                <a:off x="5130988" y="3282815"/>
                <a:ext cx="1208827" cy="1409756"/>
              </a:xfrm>
              <a:prstGeom prst="bentConnector3">
                <a:avLst>
                  <a:gd name="adj1" fmla="val 86916"/>
                </a:avLst>
              </a:prstGeom>
              <a:ln w="15240">
                <a:solidFill>
                  <a:srgbClr val="55555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14814DF5-CAE5-A2A7-F112-39221A641AAC}"/>
                </a:ext>
              </a:extLst>
            </p:cNvPr>
            <p:cNvCxnSpPr>
              <a:cxnSpLocks/>
              <a:stCxn id="36" idx="2"/>
              <a:endCxn id="51" idx="0"/>
            </p:cNvCxnSpPr>
            <p:nvPr/>
          </p:nvCxnSpPr>
          <p:spPr>
            <a:xfrm rot="5400000">
              <a:off x="5374964" y="3038025"/>
              <a:ext cx="2122141" cy="2812650"/>
            </a:xfrm>
            <a:prstGeom prst="bentConnector3">
              <a:avLst>
                <a:gd name="adj1" fmla="val 91630"/>
              </a:avLst>
            </a:prstGeom>
            <a:ln w="15240">
              <a:solidFill>
                <a:srgbClr val="55555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46ABA12-85A6-C725-9C34-EC601151D6FE}"/>
                </a:ext>
              </a:extLst>
            </p:cNvPr>
            <p:cNvCxnSpPr>
              <a:cxnSpLocks/>
              <a:stCxn id="41" idx="2"/>
              <a:endCxn id="51" idx="0"/>
            </p:cNvCxnSpPr>
            <p:nvPr/>
          </p:nvCxnSpPr>
          <p:spPr>
            <a:xfrm flipH="1">
              <a:off x="5029709" y="5213118"/>
              <a:ext cx="814" cy="292303"/>
            </a:xfrm>
            <a:prstGeom prst="straightConnector1">
              <a:avLst/>
            </a:prstGeom>
            <a:ln w="15240">
              <a:solidFill>
                <a:srgbClr val="55555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575C5F2A-534B-4910-38B2-5D2C2ABDCABF}"/>
                </a:ext>
              </a:extLst>
            </p:cNvPr>
            <p:cNvCxnSpPr>
              <a:cxnSpLocks/>
              <a:stCxn id="12" idx="2"/>
              <a:endCxn id="16" idx="0"/>
            </p:cNvCxnSpPr>
            <p:nvPr/>
          </p:nvCxnSpPr>
          <p:spPr>
            <a:xfrm rot="16200000" flipH="1">
              <a:off x="5471302" y="1317023"/>
              <a:ext cx="535004" cy="1402950"/>
            </a:xfrm>
            <a:prstGeom prst="bentConnector3">
              <a:avLst/>
            </a:prstGeom>
            <a:ln w="15240">
              <a:solidFill>
                <a:srgbClr val="55555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Shape 17">
              <a:extLst>
                <a:ext uri="{FF2B5EF4-FFF2-40B4-BE49-F238E27FC236}">
                  <a16:creationId xmlns:a16="http://schemas.microsoft.com/office/drawing/2014/main" id="{8B60FB11-BD0B-D226-9260-76C61FF2DFB5}"/>
                </a:ext>
              </a:extLst>
            </p:cNvPr>
            <p:cNvSpPr/>
            <p:nvPr/>
          </p:nvSpPr>
          <p:spPr>
            <a:xfrm>
              <a:off x="931036" y="1876140"/>
              <a:ext cx="7831587" cy="3524535"/>
            </a:xfrm>
            <a:prstGeom prst="roundRect">
              <a:avLst>
                <a:gd name="adj" fmla="val 3125"/>
              </a:avLst>
            </a:prstGeom>
            <a:solidFill>
              <a:srgbClr val="FFFFFF">
                <a:alpha val="0"/>
              </a:srgbClr>
            </a:solidFill>
            <a:ln w="15240">
              <a:solidFill>
                <a:srgbClr val="BDBDBD"/>
              </a:solidFill>
              <a:prstDash val="dash"/>
            </a:ln>
          </p:spPr>
          <p:txBody>
            <a:bodyPr/>
            <a:lstStyle/>
            <a:p>
              <a:pPr algn="ctr"/>
              <a:endParaRPr lang="en-GB" sz="1589"/>
            </a:p>
          </p:txBody>
        </p:sp>
      </p:grpSp>
    </p:spTree>
    <p:extLst>
      <p:ext uri="{BB962C8B-B14F-4D97-AF65-F5344CB8AC3E}">
        <p14:creationId xmlns:p14="http://schemas.microsoft.com/office/powerpoint/2010/main" val="2234856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7AABDB-3175-45C5-3E58-ED4A215DE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884" y="261853"/>
            <a:ext cx="7846232" cy="63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09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162</Words>
  <Application>Microsoft Office PowerPoint</Application>
  <PresentationFormat>Widescreen</PresentationFormat>
  <Paragraphs>44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Sethmika Bellana</dc:creator>
  <cp:lastModifiedBy>Sethmika Bellana</cp:lastModifiedBy>
  <cp:revision>2</cp:revision>
  <dcterms:created xsi:type="dcterms:W3CDTF">2026-04-14T02:51:42Z</dcterms:created>
  <dcterms:modified xsi:type="dcterms:W3CDTF">2026-04-14T17:44:56Z</dcterms:modified>
</cp:coreProperties>
</file>