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8818-BEF1-1437-9F7D-8CD5BF35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7E3E3-6050-9A37-8762-8D89B1465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66C9A-FC49-6825-426C-32FF3119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20A99-1EA3-BA9E-CB9D-891117F4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09361-656F-B008-F51B-DAB2A850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02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CA15-EB47-F319-39B8-9768808B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D351-E097-0663-A70F-01EC659A2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097D-89DE-D335-F231-DCD7920C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20BFE-8A47-162C-DDC8-B06E282E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1683-BB2B-2883-1AA0-C7F27348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39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02E4-A8E6-10DA-CECD-16D9376A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5E895-8A9F-9B53-D661-13D62D1D8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E6019-1946-303F-F8D0-0AE18B92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A9520-32CE-6899-273E-40651C52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FEEB4-A27B-5C68-E04C-CF600E1B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68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9728-97B0-6AC9-3119-0FBA9DA0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5821-7BEA-D607-05D9-97AF61FC8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247CF-6B02-0B0E-3A7E-1CFA5DF6D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40151-26AB-6F78-EF24-F9CD28DE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E5D7C-B5F9-388C-A1F0-85A8754C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7F1C8-E686-45AA-E77B-211CAEA1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25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4FA4-1611-AF53-3A25-EB5E38DA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B1D60-A6BC-FE49-BF17-075A7CA12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51BE8-40CF-75C6-373F-647574644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0EBB0-9E47-97E6-0F85-FC1CF6C4A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66B61-518E-9AAF-5124-7A6BBC4D2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07E98-D7E7-8266-A4BF-231DAE88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D2DFF-1EF0-BBCD-0B89-7E5FE0FA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9979B-2331-B8A4-E6ED-145015F8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83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0217-0FAF-3A55-5B6F-7498218E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FADEE-2827-D92F-661C-8554FB44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D02DB-778F-6FAC-52B7-6AC171E4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CC0EE-97A3-C9EE-6E6A-58D5F7C0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5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3711F-31E0-AF3A-D8C0-200B157C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37E9B-70A1-FFD9-EC6C-D05B6B1F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6D3E9-4556-583E-CBF8-DE5DF214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03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FCBC-4D95-5F2C-5D80-E4AEA28C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C4B2-A81A-EE68-D06B-17F353C6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10436-385E-9983-53D0-E8B05333A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1FB03-3F30-4A47-DC24-92422575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FC59B-D160-42A9-F91F-261686C1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4DFA9-C0E7-C3D9-547D-BB99822F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57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15D1-8B46-65DC-F303-1E609DBB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4FFDF-90B5-C255-8936-9ADB555EC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7A34F-E611-9D5D-8541-B2284E4F7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AE0E4-CB36-2BB0-A776-AE3DBED2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F34DB-A890-EE3C-8C98-D89B6543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EF478-831F-7675-C23E-FBE4DF9A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27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3325-C978-F453-913B-E527FCDD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4E81D-5D25-B5E1-1371-A000DD12E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8D355-F8C9-B268-4A7A-0E742816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C6BA-1FB6-BCFC-A5CB-936D88EA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B1D1-F118-2CD3-4B88-CE83A2C4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7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D1FB2F-23DA-46D0-E3FE-90E87C128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37395-2A56-8F06-69A5-588BC32D5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974F0-5969-7C03-1606-383F1EE2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B9DFF-1E30-AC64-0BF4-9E8A180E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DBA1-4929-CBE5-BBF4-F5E30AAB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73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60F42-A90F-B992-6DD4-C000FC4C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94185-52D4-FA5E-A81D-17E8A1272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B0365-0429-0902-12C8-719104140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B29D5-628C-4C1F-A858-197DC2BA96E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4D0ED-FAED-0177-682A-F354E2089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5E74-35FA-FCB0-D669-33BFC7A8E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E50C7-D380-4E77-8CF5-DC87D55F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24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029846-AD90-62D7-B468-66D30E3C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 Panel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9B9EEB-68C6-FF11-2B13-51A3A84C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75" y="1503743"/>
            <a:ext cx="2419688" cy="422016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EF7AA-455E-7C01-0083-A37CF978F7C9}"/>
              </a:ext>
            </a:extLst>
          </p:cNvPr>
          <p:cNvCxnSpPr/>
          <p:nvPr/>
        </p:nvCxnSpPr>
        <p:spPr>
          <a:xfrm flipH="1">
            <a:off x="2849799" y="1979579"/>
            <a:ext cx="826851" cy="126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BC3FFB-BB41-A81F-94B7-8B56B8C49CB1}"/>
              </a:ext>
            </a:extLst>
          </p:cNvPr>
          <p:cNvSpPr txBox="1"/>
          <p:nvPr/>
        </p:nvSpPr>
        <p:spPr>
          <a:xfrm>
            <a:off x="3263224" y="2794229"/>
            <a:ext cx="7304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Change the font and the borders and other format to something like this:</a:t>
            </a:r>
            <a:br>
              <a:rPr lang="en-GB" dirty="0"/>
            </a:br>
            <a:r>
              <a:rPr lang="en-GB" dirty="0"/>
              <a:t>action this for all the filter options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EF8533-3C5E-AA47-B1D0-BD95D95D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224" y="3440560"/>
            <a:ext cx="2172003" cy="53347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AAE120-33B3-4522-7001-E09E53307F12}"/>
              </a:ext>
            </a:extLst>
          </p:cNvPr>
          <p:cNvCxnSpPr>
            <a:stCxn id="14" idx="1"/>
          </p:cNvCxnSpPr>
          <p:nvPr/>
        </p:nvCxnSpPr>
        <p:spPr>
          <a:xfrm flipH="1">
            <a:off x="2849799" y="3117395"/>
            <a:ext cx="413425" cy="83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58E640-D97A-28F5-692F-E991CE5F8CEF}"/>
              </a:ext>
            </a:extLst>
          </p:cNvPr>
          <p:cNvSpPr txBox="1"/>
          <p:nvPr/>
        </p:nvSpPr>
        <p:spPr>
          <a:xfrm>
            <a:off x="3752850" y="1857947"/>
            <a:ext cx="389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Remove this, doesn’t add much value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02FC90-3998-161A-7881-6F2CEF8AEC15}"/>
              </a:ext>
            </a:extLst>
          </p:cNvPr>
          <p:cNvCxnSpPr/>
          <p:nvPr/>
        </p:nvCxnSpPr>
        <p:spPr>
          <a:xfrm flipH="1">
            <a:off x="2867261" y="4667250"/>
            <a:ext cx="3959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2D248C-B737-BFCC-3501-0CBAFE0FECAC}"/>
              </a:ext>
            </a:extLst>
          </p:cNvPr>
          <p:cNvSpPr txBox="1"/>
          <p:nvPr/>
        </p:nvSpPr>
        <p:spPr>
          <a:xfrm>
            <a:off x="3448050" y="4544101"/>
            <a:ext cx="659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At the bottom write in italics under the box, saying ‘Average Price’</a:t>
            </a:r>
          </a:p>
        </p:txBody>
      </p:sp>
    </p:spTree>
    <p:extLst>
      <p:ext uri="{BB962C8B-B14F-4D97-AF65-F5344CB8AC3E}">
        <p14:creationId xmlns:p14="http://schemas.microsoft.com/office/powerpoint/2010/main" val="26543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D762-42CD-F0B5-7ACF-953A7E37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EDD3E-2C14-4A92-C4DA-632D3D7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71"/>
          <a:stretch>
            <a:fillRect/>
          </a:stretch>
        </p:blipFill>
        <p:spPr>
          <a:xfrm>
            <a:off x="719847" y="1690688"/>
            <a:ext cx="9805481" cy="192296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0A636E-82BB-150D-BACA-D2CA1EDD648A}"/>
              </a:ext>
            </a:extLst>
          </p:cNvPr>
          <p:cNvCxnSpPr/>
          <p:nvPr/>
        </p:nvCxnSpPr>
        <p:spPr>
          <a:xfrm flipV="1">
            <a:off x="1586622" y="3020438"/>
            <a:ext cx="408562" cy="817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FCD210-D344-B125-1845-80B60F6AEF79}"/>
              </a:ext>
            </a:extLst>
          </p:cNvPr>
          <p:cNvSpPr txBox="1"/>
          <p:nvPr/>
        </p:nvSpPr>
        <p:spPr>
          <a:xfrm>
            <a:off x="599982" y="3914775"/>
            <a:ext cx="992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chart doesn’t seem correct, it doesn’t have the x and y axis. And it looks too long and expanded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311086-56A6-FE8B-BCC0-8C9F5B244F39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782263" y="1466781"/>
            <a:ext cx="1202117" cy="667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6CE4EF-C66D-BBAD-D139-6B9E392CFFFF}"/>
              </a:ext>
            </a:extLst>
          </p:cNvPr>
          <p:cNvSpPr txBox="1"/>
          <p:nvPr/>
        </p:nvSpPr>
        <p:spPr>
          <a:xfrm>
            <a:off x="10186565" y="1097449"/>
            <a:ext cx="159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Remove these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CB255E-926F-1726-6B3C-C8BB4BC9A3C3}"/>
              </a:ext>
            </a:extLst>
          </p:cNvPr>
          <p:cNvCxnSpPr>
            <a:stCxn id="12" idx="2"/>
          </p:cNvCxnSpPr>
          <p:nvPr/>
        </p:nvCxnSpPr>
        <p:spPr>
          <a:xfrm flipH="1">
            <a:off x="10186565" y="1466781"/>
            <a:ext cx="797815" cy="72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F99B3C-AF92-71CC-F625-A1FA56A13A37}"/>
              </a:ext>
            </a:extLst>
          </p:cNvPr>
          <p:cNvCxnSpPr>
            <a:stCxn id="12" idx="2"/>
          </p:cNvCxnSpPr>
          <p:nvPr/>
        </p:nvCxnSpPr>
        <p:spPr>
          <a:xfrm flipH="1">
            <a:off x="10334625" y="1466781"/>
            <a:ext cx="649755" cy="962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B225C8-442E-25B0-E74F-D16F2B6CB3C1}"/>
              </a:ext>
            </a:extLst>
          </p:cNvPr>
          <p:cNvCxnSpPr/>
          <p:nvPr/>
        </p:nvCxnSpPr>
        <p:spPr>
          <a:xfrm flipH="1">
            <a:off x="1790903" y="1609725"/>
            <a:ext cx="866572" cy="819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74C58D8-2939-6A72-8CFE-9AC7350F65DA}"/>
              </a:ext>
            </a:extLst>
          </p:cNvPr>
          <p:cNvSpPr txBox="1"/>
          <p:nvPr/>
        </p:nvSpPr>
        <p:spPr>
          <a:xfrm>
            <a:off x="2657475" y="1321356"/>
            <a:ext cx="4844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Add the price, and the percentage change here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CEF6763-D548-3F97-DD82-16302013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13" y="5119528"/>
            <a:ext cx="9595815" cy="9500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19B15B5-290B-4430-2AAC-4B2974D3535B}"/>
              </a:ext>
            </a:extLst>
          </p:cNvPr>
          <p:cNvSpPr txBox="1"/>
          <p:nvPr/>
        </p:nvSpPr>
        <p:spPr>
          <a:xfrm>
            <a:off x="610480" y="6042858"/>
            <a:ext cx="9191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Add something like this, at the bottom of the chart showing the percentage changes, and when you click it, it the above chart changes to that relevant period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A758C7-882A-9550-4B3B-FC72B39C8875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 flipH="1">
            <a:off x="343302" y="3471344"/>
            <a:ext cx="494898" cy="1315267"/>
          </a:xfrm>
          <a:prstGeom prst="bentConnector4">
            <a:avLst>
              <a:gd name="adj1" fmla="val -46191"/>
              <a:gd name="adj2" fmla="val 997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BC26C6A-C267-8830-2155-AE18B4765748}"/>
              </a:ext>
            </a:extLst>
          </p:cNvPr>
          <p:cNvSpPr txBox="1"/>
          <p:nvPr/>
        </p:nvSpPr>
        <p:spPr>
          <a:xfrm>
            <a:off x="343302" y="4324945"/>
            <a:ext cx="11248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Remove this comment, and give a comment on the general trend, e.g. if we see a </a:t>
            </a:r>
            <a:r>
              <a:rPr lang="en-GB" dirty="0" err="1"/>
              <a:t>contunous</a:t>
            </a:r>
            <a:r>
              <a:rPr lang="en-GB" dirty="0"/>
              <a:t> decline then say like</a:t>
            </a:r>
            <a:br>
              <a:rPr lang="en-GB" dirty="0"/>
            </a:br>
            <a:r>
              <a:rPr lang="en-GB" dirty="0"/>
              <a:t>it seems to be declining since xx, date vice versa, if it fluctuating say something appropriate to that, basically analyse the recent trend comparing with the bigger </a:t>
            </a:r>
            <a:r>
              <a:rPr lang="en-GB" dirty="0" err="1"/>
              <a:t>pciture</a:t>
            </a:r>
            <a:endParaRPr lang="en-GB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72E0B73-3AD6-A21C-7788-E7BDBA47933C}"/>
              </a:ext>
            </a:extLst>
          </p:cNvPr>
          <p:cNvCxnSpPr>
            <a:stCxn id="26" idx="3"/>
            <a:endCxn id="22" idx="3"/>
          </p:cNvCxnSpPr>
          <p:nvPr/>
        </p:nvCxnSpPr>
        <p:spPr>
          <a:xfrm flipV="1">
            <a:off x="9801993" y="5594535"/>
            <a:ext cx="723335" cy="771489"/>
          </a:xfrm>
          <a:prstGeom prst="bentConnector3">
            <a:avLst>
              <a:gd name="adj1" fmla="val 1316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70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5FB2-0383-9F65-ED0D-2C4B0D98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tab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7795E-0B17-EB64-7896-B710C19CEB5C}"/>
              </a:ext>
            </a:extLst>
          </p:cNvPr>
          <p:cNvSpPr txBox="1"/>
          <p:nvPr/>
        </p:nvSpPr>
        <p:spPr>
          <a:xfrm>
            <a:off x="758758" y="1690688"/>
            <a:ext cx="10963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Just below the previous ones, add a box, to say sector and industry </a:t>
            </a:r>
            <a:r>
              <a:rPr lang="en-GB" dirty="0" err="1"/>
              <a:t>amd</a:t>
            </a:r>
            <a:r>
              <a:rPr lang="en-GB" dirty="0"/>
              <a:t> does it belong to the S&amp;P 500 index or not, and then  the company description</a:t>
            </a:r>
          </a:p>
        </p:txBody>
      </p:sp>
    </p:spTree>
    <p:extLst>
      <p:ext uri="{BB962C8B-B14F-4D97-AF65-F5344CB8AC3E}">
        <p14:creationId xmlns:p14="http://schemas.microsoft.com/office/powerpoint/2010/main" val="246841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BBF7-1962-7D7A-A465-8F30DE95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D6AE8-28CB-8B28-3E92-E3A1836A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28" y="3383627"/>
            <a:ext cx="4162221" cy="1374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3040CC-745D-4181-B9D5-186A2C5B00B0}"/>
              </a:ext>
            </a:extLst>
          </p:cNvPr>
          <p:cNvSpPr txBox="1"/>
          <p:nvPr/>
        </p:nvSpPr>
        <p:spPr>
          <a:xfrm>
            <a:off x="924128" y="1887166"/>
            <a:ext cx="10677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boxes that are just below the chart, in the first left hand side, put the market regime. Then in big highlighting way put the signal and the </a:t>
            </a:r>
            <a:r>
              <a:rPr lang="en-GB" dirty="0" err="1"/>
              <a:t>consifence</a:t>
            </a:r>
            <a:r>
              <a:rPr lang="en-GB" dirty="0"/>
              <a:t> of the </a:t>
            </a:r>
            <a:r>
              <a:rPr lang="en-GB" dirty="0" err="1"/>
              <a:t>singnal</a:t>
            </a:r>
            <a:r>
              <a:rPr lang="en-GB" dirty="0"/>
              <a:t> in %, and then the 4 components.</a:t>
            </a:r>
          </a:p>
          <a:p>
            <a:r>
              <a:rPr lang="en-GB" dirty="0"/>
              <a:t>Make sure keep them of symmetry height.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1F644-84C7-9301-4208-A9B353114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28" y="3367398"/>
            <a:ext cx="3974559" cy="13748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B59E6-F4CE-D058-13AD-E01E4C34CFF4}"/>
              </a:ext>
            </a:extLst>
          </p:cNvPr>
          <p:cNvSpPr/>
          <p:nvPr/>
        </p:nvSpPr>
        <p:spPr>
          <a:xfrm>
            <a:off x="5363183" y="3429000"/>
            <a:ext cx="1828800" cy="6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Buy/Sell/Hold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74C41A-6933-73B4-78B2-3BD46AFBD84C}"/>
              </a:ext>
            </a:extLst>
          </p:cNvPr>
          <p:cNvSpPr/>
          <p:nvPr/>
        </p:nvSpPr>
        <p:spPr>
          <a:xfrm>
            <a:off x="5363183" y="4142369"/>
            <a:ext cx="1828800" cy="6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Confidence %</a:t>
            </a:r>
          </a:p>
        </p:txBody>
      </p:sp>
    </p:spTree>
    <p:extLst>
      <p:ext uri="{BB962C8B-B14F-4D97-AF65-F5344CB8AC3E}">
        <p14:creationId xmlns:p14="http://schemas.microsoft.com/office/powerpoint/2010/main" val="146573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4F66-8750-AD4F-EB49-76FE92F8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E72A3-657C-EE3C-615E-6AFAD8A3A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79" y="3429000"/>
            <a:ext cx="4774660" cy="2336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02946A-D398-A840-C812-A1C883DDE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67" y="3429000"/>
            <a:ext cx="5496012" cy="2444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A532D2-6617-34B3-98C9-9AAC3ABA7870}"/>
              </a:ext>
            </a:extLst>
          </p:cNvPr>
          <p:cNvSpPr txBox="1"/>
          <p:nvPr/>
        </p:nvSpPr>
        <p:spPr>
          <a:xfrm>
            <a:off x="760379" y="2140085"/>
            <a:ext cx="8364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Add these two just below the previous ones, remove the chart. And then add the financial health and then the news and sentiment segments</a:t>
            </a:r>
          </a:p>
        </p:txBody>
      </p:sp>
    </p:spTree>
    <p:extLst>
      <p:ext uri="{BB962C8B-B14F-4D97-AF65-F5344CB8AC3E}">
        <p14:creationId xmlns:p14="http://schemas.microsoft.com/office/powerpoint/2010/main" val="404732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8AFB-9B16-9E24-9E4A-32716F5E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tab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AE519-F967-3D7F-BFB0-E6FBC2CD4D2A}"/>
              </a:ext>
            </a:extLst>
          </p:cNvPr>
          <p:cNvSpPr txBox="1"/>
          <p:nvPr/>
        </p:nvSpPr>
        <p:spPr>
          <a:xfrm>
            <a:off x="2782111" y="1809345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Remove this</a:t>
            </a:r>
          </a:p>
        </p:txBody>
      </p:sp>
    </p:spTree>
    <p:extLst>
      <p:ext uri="{BB962C8B-B14F-4D97-AF65-F5344CB8AC3E}">
        <p14:creationId xmlns:p14="http://schemas.microsoft.com/office/powerpoint/2010/main" val="4144953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299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Filter Panel</vt:lpstr>
      <vt:lpstr>Dashboard tab</vt:lpstr>
      <vt:lpstr>Dashboard tab</vt:lpstr>
      <vt:lpstr>Dashboard Tab</vt:lpstr>
      <vt:lpstr>Dashboard Tab</vt:lpstr>
      <vt:lpstr>Overview tab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Sethmika Bellana</dc:creator>
  <cp:lastModifiedBy>Sethmika Bellana</cp:lastModifiedBy>
  <cp:revision>1</cp:revision>
  <dcterms:created xsi:type="dcterms:W3CDTF">2026-03-08T14:13:41Z</dcterms:created>
  <dcterms:modified xsi:type="dcterms:W3CDTF">2026-03-08T18:28:30Z</dcterms:modified>
</cp:coreProperties>
</file>